
<file path=[Content_Types].xml><?xml version="1.0" encoding="utf-8"?>
<Types xmlns="http://schemas.openxmlformats.org/package/2006/content-types">
  <Default Extension="xml" ContentType="application/vnd.openxmlformats-package.core-properties+xml"/>
  <Default Extension="rels" ContentType="application/vnd.openxmlformats-package.relationships+xml"/>
  <Override PartName="/docProps/app.xml" ContentType="application/vnd.openxmlformats-officedocument.extended-properties+xml"/>
  <Override PartName="/ppt/presentation.xml" ContentType="application/vnd.openxmlformats-officedocument.presentationml.presentation.main+xml"/>
  <Override PartName="/ppt/theme/theme1.xml" ContentType="application/vnd.openxmlformats-officedocument.theme+xml"/>
  <Override PartName="/ppt/slideMasters/slideMaster1.xml" ContentType="application/vnd.openxmlformats-officedocument.presentationml.slideMaster+xml"/>
  <Override PartName="/ppt/slideMasters/theme/theme2.xml" ContentType="application/vnd.openxmlformats-officedocument.theme+xml"/>
  <Override PartName="/ppt/slideLayouts/slideLayout1.xml" ContentType="application/vnd.openxmlformats-officedocument.presentationml.slideLayout+xml"/>
  <Override PartName="/ppt/notesMasters/notesMaster1.xml" ContentType="application/vnd.openxmlformats-officedocument.presentationml.notesMaster+xml"/>
  <Override PartName="/ppt/notesMasters/theme/theme3.xml" ContentType="application/vnd.openxmlformats-officedocument.theme+xml"/>
  <Override PartName="/ppt/presProps.xml" ContentType="application/vnd.openxmlformats-officedocument.presentationml.presProps+xml"/>
  <Override PartName="/ppt/tableStyles.xml" ContentType="application/vnd.openxmlformats-officedocument.presentationml.tableStyles+xml"/>
  <Override PartName="/ppt/slides/slide1.xml" ContentType="application/vnd.openxmlformats-officedocument.presentationml.slide+xml"/>
  <Override PartName="/ppt/notesSlides/notesSlide1.xml" ContentType="application/vnd.openxmlformats-officedocument.presentationml.notesSlide+xml"/>
  <Override PartName="/ppt/slides/slide2.xml" ContentType="application/vnd.openxmlformats-officedocument.presentationml.slide+xml"/>
  <Override PartName="/ppt/notesSlides/notesSlide2.xml" ContentType="application/vnd.openxmlformats-officedocument.presentationml.notesSlide+xml"/>
  <Override PartName="/ppt/slides/slide3.xml" ContentType="application/vnd.openxmlformats-officedocument.presentationml.slide+xml"/>
  <Override PartName="/ppt/notesSlides/notesSlide3.xml" ContentType="application/vnd.openxmlformats-officedocument.presentationml.notesSlide+xml"/>
  <Override PartName="/ppt/slides/slide4.xml" ContentType="application/vnd.openxmlformats-officedocument.presentationml.slide+xml"/>
  <Override PartName="/ppt/notesSlides/notesSlide4.xml" ContentType="application/vnd.openxmlformats-officedocument.presentationml.notesSlide+xml"/>
</Types>
</file>

<file path=_rels/.rels>&#65279;<?xml version="1.0" encoding="utf-8"?><Relationships xmlns="http://schemas.openxmlformats.org/package/2006/relationships"><Relationship Type="http://schemas.openxmlformats.org/package/2006/relationships/metadata/core-properties" Target="/docProps/core.xml" Id="R5911eca8c2a748e4" /><Relationship Type="http://schemas.openxmlformats.org/officeDocument/2006/relationships/extended-properties" Target="/docProps/app.xml" Id="Rdb9027641c084549" /><Relationship Type="http://schemas.openxmlformats.org/officeDocument/2006/relationships/officeDocument" Target="/ppt/presentation.xml" Id="R1832b7d689a44409" /></Relationships>
</file>

<file path=ppt/presentation.xml><?xml version="1.0" encoding="utf-8"?>
<p:presentation xmlns:p="http://schemas.openxmlformats.org/presentationml/2006/main">
  <p:sldMasterIdLst>
    <p:sldMasterId xmlns:r="http://schemas.openxmlformats.org/officeDocument/2006/relationships" id="2147483648" r:id="Rd36d6c0f7d224fd9"/>
  </p:sldMasterIdLst>
  <p:notesMasterIdLst>
    <p:notesMasterId xmlns:r="http://schemas.openxmlformats.org/officeDocument/2006/relationships" r:id="R60d388df1e8c4ebc"/>
  </p:notesMasterIdLst>
  <p:sldIdLst>
    <p:sldId xmlns:r="http://schemas.openxmlformats.org/officeDocument/2006/relationships" id="256" r:id="Rc124dc3d235d4aa9"/>
    <p:sldId xmlns:r="http://schemas.openxmlformats.org/officeDocument/2006/relationships" id="257" r:id="R37663be43f6841bc"/>
    <p:sldId xmlns:r="http://schemas.openxmlformats.org/officeDocument/2006/relationships" id="258" r:id="R73fbab19ad994f7e"/>
    <p:sldId xmlns:r="http://schemas.openxmlformats.org/officeDocument/2006/relationships" id="259" r:id="R605f00fa896444cf"/>
  </p:sldIdLst>
  <p:sldSz cx="12192000" cy="6858000"/>
  <p:notesSz cx="6858000" cy="9144000"/>
</p:presentation>
</file>

<file path=ppt/presProps.xml><?xml version="1.0" encoding="utf-8"?>
<p:presentationPr xmlns:p="http://schemas.openxmlformats.org/presentationml/2006/main">
  <p:extLst>
    <p:ext xmlns:p14="http://schemas.microsoft.com/office/powerpoint/2010/main" uri="{E76CE94A-603C-4142-B9EB-6D1370010A27}">
      <p14:discardImageEditData val="0"/>
    </p:ext>
    <p:ext xmlns:p14="http://schemas.microsoft.com/office/powerpoint/2010/main" uri="{D31A062A-798A-4329-ABDD-BBA856620510}">
      <p14:defaultImageDpi val="32767"/>
    </p:ext>
    <p:ext xmlns:p15="http://schemas.microsoft.com/office/powerpoint/2012/main" uri="{FD5EFAAD-0ECE-453E-9831-46B23BE46B34}">
      <p15:chartTrackingRefBased val="1"/>
    </p:ext>
  </p:extLst>
</p:presentationPr>
</file>

<file path=ppt/tableStyles.xml><?xml version="1.0" encoding="utf-8"?>
<a:tblStyleLst xmlns:a="http://schemas.openxmlformats.org/drawingml/2006/main" def="{5C22544A-7EE6-4342-B048-85BDC9FD1C3A}"/>
</file>

<file path=ppt/_rels/presentation.xml.rels>&#65279;<?xml version="1.0" encoding="utf-8"?><Relationships xmlns="http://schemas.openxmlformats.org/package/2006/relationships"><Relationship Type="http://schemas.openxmlformats.org/officeDocument/2006/relationships/theme" Target="/ppt/theme/theme1.xml" Id="Rd8d0fa4c923a43d0" /><Relationship Type="http://schemas.openxmlformats.org/officeDocument/2006/relationships/slideMaster" Target="/ppt/slideMasters/slideMaster1.xml" Id="Rd36d6c0f7d224fd9" /><Relationship Type="http://schemas.openxmlformats.org/officeDocument/2006/relationships/notesMaster" Target="/ppt/notesMasters/notesMaster1.xml" Id="R60d388df1e8c4ebc" /><Relationship Type="http://schemas.openxmlformats.org/officeDocument/2006/relationships/presProps" Target="/ppt/presProps.xml" Id="R407d0acbb9764acd" /><Relationship Type="http://schemas.openxmlformats.org/officeDocument/2006/relationships/tableStyles" Target="/ppt/tableStyles.xml" Id="Re2757519c48548f0" /><Relationship Type="http://schemas.openxmlformats.org/officeDocument/2006/relationships/slide" Target="/ppt/slides/slide1.xml" Id="Rc124dc3d235d4aa9" /><Relationship Type="http://schemas.openxmlformats.org/officeDocument/2006/relationships/slide" Target="/ppt/slides/slide2.xml" Id="R37663be43f6841bc" /><Relationship Type="http://schemas.openxmlformats.org/officeDocument/2006/relationships/slide" Target="/ppt/slides/slide3.xml" Id="R73fbab19ad994f7e" /><Relationship Type="http://schemas.openxmlformats.org/officeDocument/2006/relationships/slide" Target="/ppt/slides/slide4.xml" Id="R605f00fa896444cf" /></Relationships>
</file>

<file path=ppt/notesMasters/_rels/notesMaster1.xml.rels>&#65279;<?xml version="1.0" encoding="utf-8"?><Relationships xmlns="http://schemas.openxmlformats.org/package/2006/relationships"><Relationship Type="http://schemas.openxmlformats.org/officeDocument/2006/relationships/theme" Target="/ppt/notesMasters/theme/theme3.xml" Id="R7c4f81eb7b564326" /></Relationships>
</file>

<file path=ppt/notesMasters/notesMaster1.xml><?xml version="1.0" encoding="utf-8"?>
<p:notesMaster xmlns:p="http://schemas.openxmlformats.org/presentationml/2006/main">
  <p:cSld>
    <p:bg>
      <p:bgRef idx="1001">
        <a:schemeClr xmlns:a="http://schemas.openxmlformats.org/drawingml/2006/main" val="bg1"/>
      </p:bgRef>
    </p:bg>
    <p:spTree>
      <p:nvGrpSpPr>
        <p:cNvPr id="1" name=""/>
        <p:cNvGrpSpPr/>
        <p:nvPr/>
      </p:nvGrpSpPr>
      <p:grpSpPr>
        <a:xfrm xmlns:a="http://schemas.openxmlformats.org/drawingml/2006/main"/>
      </p:grpSpPr>
      <p:sp>
        <p:nvSpPr>
          <p:cNvPr id="2" name="Header Placeholder"/>
          <p:cNvSpPr/>
          <p:nvPr>
            <p:ph type="hdr" sz="quarter"/>
          </p:nvPr>
        </p:nvSpPr>
        <p:spPr>
          <a:prstGeom xmlns:a="http://schemas.openxmlformats.org/drawingml/2006/main" prst="rect">
            <a:avLst/>
          </a:prstGeom>
        </p:spPr>
        <p:txBody>
          <a:bodyPr xmlns:a="http://schemas.openxmlformats.org/drawingml/2006/main"/>
          <a:lstStyle xmlns:a="http://schemas.openxmlformats.org/drawingml/2006/main"/>
          <a:p xmlns:a="http://schemas.openxmlformats.org/drawingml/2006/main"/>
        </p:txBody>
      </p:sp>
      <p:sp>
        <p:nvSpPr>
          <p:cNvPr id="3" name="Date Placeholder"/>
          <p:cNvSpPr/>
          <p:nvPr>
            <p:ph type="dt" sz="quarter" idx="1"/>
          </p:nvPr>
        </p:nvSpPr>
        <p:spPr>
          <a:prstGeom xmlns:a="http://schemas.openxmlformats.org/drawingml/2006/main" prst="rect">
            <a:avLst/>
          </a:prstGeom>
        </p:spPr>
        <p:txBody>
          <a:bodyPr xmlns:a="http://schemas.openxmlformats.org/drawingml/2006/main"/>
          <a:lstStyle xmlns:a="http://schemas.openxmlformats.org/drawingml/2006/main"/>
          <a:p xmlns:a="http://schemas.openxmlformats.org/drawingml/2006/main"/>
        </p:txBody>
      </p:sp>
      <p:sp>
        <p:nvSpPr>
          <p:cNvPr id="4" name="Slide Image Placeholder"/>
          <p:cNvSpPr/>
          <p:nvPr>
            <p:ph type="sldImg" idx="2"/>
          </p:nvPr>
        </p:nvSpPr>
        <p:spPr>
          <a:prstGeom xmlns:a="http://schemas.openxmlformats.org/drawingml/2006/main" prst="rect">
            <a:avLst/>
          </a:prstGeom>
        </p:spPr>
        <p:txBody>
          <a:bodyPr xmlns:a="http://schemas.openxmlformats.org/drawingml/2006/main"/>
          <a:lstStyle xmlns:a="http://schemas.openxmlformats.org/drawingml/2006/main"/>
          <a:p xmlns:a="http://schemas.openxmlformats.org/drawingml/2006/main"/>
        </p:txBody>
      </p:sp>
      <p:sp>
        <p:nvSpPr>
          <p:cNvPr id="5" name="Notes Placeholder"/>
          <p:cNvSpPr/>
          <p:nvPr>
            <p:ph type="body" sz="quarter" idx="3"/>
          </p:nvPr>
        </p:nvSpPr>
        <p:spPr>
          <a:prstGeom xmlns:a="http://schemas.openxmlformats.org/drawingml/2006/main" prst="rect">
            <a:avLst/>
          </a:prstGeom>
        </p:spPr>
        <p:txBody>
          <a:bodyPr xmlns:a="http://schemas.openxmlformats.org/drawingml/2006/main"/>
          <a:lstStyle xmlns:a="http://schemas.openxmlformats.org/drawingml/2006/main"/>
          <a:p xmlns:a="http://schemas.openxmlformats.org/drawingml/2006/main"/>
        </p:txBody>
      </p:sp>
      <p:sp>
        <p:nvSpPr>
          <p:cNvPr id="6" name="Footer Placeholder"/>
          <p:cNvSpPr/>
          <p:nvPr>
            <p:ph type="ftr" sz="quarter" idx="4"/>
          </p:nvPr>
        </p:nvSpPr>
        <p:spPr>
          <a:prstGeom xmlns:a="http://schemas.openxmlformats.org/drawingml/2006/main" prst="rect">
            <a:avLst/>
          </a:prstGeom>
        </p:spPr>
        <p:txBody>
          <a:bodyPr xmlns:a="http://schemas.openxmlformats.org/drawingml/2006/main"/>
          <a:lstStyle xmlns:a="http://schemas.openxmlformats.org/drawingml/2006/main"/>
          <a:p xmlns:a="http://schemas.openxmlformats.org/drawingml/2006/main"/>
        </p:txBody>
      </p:sp>
      <p:sp>
        <p:nvSpPr>
          <p:cNvPr id="7" name="Slide Number Placeholder"/>
          <p:cNvSpPr/>
          <p:nvPr>
            <p:ph type="sldNum" sz="quarter" idx="5"/>
          </p:nvPr>
        </p:nvSpPr>
        <p:spPr>
          <a:prstGeom xmlns:a="http://schemas.openxmlformats.org/drawingml/2006/main" prst="rect">
            <a:avLst/>
          </a:prstGeom>
        </p:spPr>
        <p:txBody>
          <a:bodyPr xmlns:a="http://schemas.openxmlformats.org/drawingml/2006/main"/>
          <a:lstStyle xmlns:a="http://schemas.openxmlformats.org/drawingml/2006/main"/>
          <a:p xmlns:a="http://schemas.openxmlformats.org/drawingml/2006/main"/>
        </p:txBody>
      </p:sp>
    </p:spTree>
  </p:cSld>
  <p:clrMap bg1="lt1" tx1="dk1" bg2="lt2" tx2="dk2" accent1="accent1" accent2="accent2" accent3="accent3" accent4="accent4" accent5="accent5" accent6="accent6" hlink="hlink" folHlink="folHlink"/>
  <p:notesStyle>
    <a:lvl1pPr xmlns:a="http://schemas.openxmlformats.org/drawingml/2006/main" marL="0" algn="l" defTabSz="914400" rtl="0" eaLnBrk="1" latinLnBrk="0" hangingPunct="1">
      <a:defRPr sz="1200" kern="1200"/>
    </a:lvl1pPr>
  </p:notesStyle>
</p:notesMaster>
</file>

<file path=ppt/notesMasters/theme/theme3.xml><?xml version="1.0" encoding="utf-8"?>
<a:theme xmlns:a="http://schemas.openxmlformats.org/drawingml/2006/main" name="ChatGPT">
  <a:themeElements>
    <a:clrScheme name="ChatGPT">
      <a:dk1>
        <a:srgbClr val="000000"/>
      </a:dk1>
      <a:lt1>
        <a:srgbClr val="FFFFFF"/>
      </a:lt1>
      <a:dk2>
        <a:srgbClr val="0E2841"/>
      </a:dk2>
      <a:lt2>
        <a:srgbClr val="E8E8E8"/>
      </a:lt2>
      <a:accent1>
        <a:srgbClr val="156082"/>
      </a:accent1>
      <a:accent2>
        <a:srgbClr val="E97132"/>
      </a:accent2>
      <a:accent3>
        <a:srgbClr val="196B24"/>
      </a:accent3>
      <a:accent4>
        <a:srgbClr val="0F9ED5"/>
      </a:accent4>
      <a:accent5>
        <a:srgbClr val="A02B93"/>
      </a:accent5>
      <a:accent6>
        <a:srgbClr val="4EA72E"/>
      </a:accent6>
      <a:hlink>
        <a:srgbClr val="467886"/>
      </a:hlink>
      <a:folHlink>
        <a:srgbClr val="96607D"/>
      </a:folHlink>
    </a:clrScheme>
    <a:fontScheme name="Office">
      <a:majorFont>
        <a:latin typeface="Calibri Light"/>
        <a:ea typeface="Calibri Light"/>
        <a:cs typeface="Calibri Light"/>
      </a:majorFont>
      <a:minorFont>
        <a:latin typeface="Calibri"/>
        <a:ea typeface="Calibri"/>
        <a:cs typeface="Calibri"/>
      </a:minorFont>
    </a:fontScheme>
    <a:fmtScheme name="ChatGPT">
      <a:fillStyleLst>
        <a:solidFill>
          <a:schemeClr val="phClr"/>
        </a:solidFill>
        <a:gradFill>
          <a:gsLst>
            <a:gs pos="0">
              <a:schemeClr val="phClr">
                <a:tint val="67000"/>
                <a:lumMod val="110000"/>
                <a:satMod val="105000"/>
              </a:schemeClr>
            </a:gs>
            <a:gs pos="50000">
              <a:schemeClr val="phClr">
                <a:tint val="73000"/>
                <a:lumMod val="105000"/>
                <a:satMod val="103000"/>
              </a:schemeClr>
            </a:gs>
            <a:gs pos="100000">
              <a:schemeClr val="phClr">
                <a:tint val="81000"/>
                <a:lumMod val="105000"/>
                <a:satMod val="109000"/>
              </a:schemeClr>
            </a:gs>
          </a:gsLst>
          <a:lin ang="5400000" scaled="0"/>
        </a:gradFill>
        <a:gradFill>
          <a:gsLst>
            <a:gs pos="0">
              <a:schemeClr val="phClr">
                <a:tint val="94000"/>
                <a:lumMod val="102000"/>
                <a:satMod val="103000"/>
              </a:schemeClr>
            </a:gs>
            <a:gs pos="50000">
              <a:schemeClr val="phClr">
                <a:shade val="100000"/>
                <a:lumMod val="100000"/>
                <a:satMod val="110000"/>
              </a:schemeClr>
            </a:gs>
            <a:gs pos="100000">
              <a:schemeClr val="phClr">
                <a:shade val="78000"/>
                <a:lumMod val="99000"/>
                <a:satMod val="120000"/>
              </a:schemeClr>
            </a:gs>
          </a:gsLst>
          <a:lin ang="5400000" scaled="0"/>
        </a:gradFill>
      </a:fillStyleLst>
      <a:lnStyleLst>
        <a:ln w="12700">
          <a:solidFill>
            <a:schemeClr val="phClr"/>
          </a:solidFill>
          <a:prstDash val="solid"/>
        </a:ln>
        <a:ln w="19050">
          <a:solidFill>
            <a:schemeClr val="phClr"/>
          </a:solidFill>
          <a:prstDash val="solid"/>
        </a:ln>
        <a:ln w="25400">
          <a:solidFill>
            <a:schemeClr val="phClr"/>
          </a:solidFill>
          <a:prstDash val="solid"/>
        </a:ln>
      </a:lnStyleLst>
      <a:effectStyleLst>
        <a:effectStyle>
          <a:effectLst/>
        </a:effectStyle>
        <a:effectStyle>
          <a:effectLst/>
        </a:effectStyle>
        <a:effectStyle>
          <a:effectLst>
            <a:outerShdw blurRad="57150" dist="19050" dir="5400000">
              <a:srgbClr val="000000">
                <a:alpha val="16000"/>
              </a:srgbClr>
            </a:outerShdw>
          </a:effectLst>
        </a:effectStyle>
        <a:effectStyle>
          <a:effectLst>
            <a:outerShdw blurRad="19050" dist="9525" dir="5400000">
              <a:srgbClr val="000000">
                <a:alpha val="6000"/>
              </a:srgbClr>
            </a:outerShdw>
          </a:effectLst>
        </a:effectStyle>
        <a:effectStyle>
          <a:effectLst>
            <a:outerShdw blurRad="28575" dist="9525" dir="5400000">
              <a:srgbClr val="000000">
                <a:alpha val="8000"/>
              </a:srgbClr>
            </a:outerShdw>
          </a:effectLst>
        </a:effectStyle>
        <a:effectStyle>
          <a:effectLst>
            <a:outerShdw blurRad="57150" dist="19050" dir="5400000">
              <a:srgbClr val="000000">
                <a:alpha val="10000"/>
              </a:srgbClr>
            </a:outerShdw>
          </a:effectLst>
        </a:effectStyle>
        <a:effectStyle>
          <a:effectLst>
            <a:outerShdw blurRad="114300" dist="38100" dir="5400000">
              <a:srgbClr val="000000">
                <a:alpha val="12000"/>
              </a:srgbClr>
            </a:outerShdw>
          </a:effectLst>
        </a:effectStyle>
        <a:effectStyle>
          <a:effectLst>
            <a:outerShdw blurRad="171450" dist="57150" dir="5400000">
              <a:srgbClr val="000000">
                <a:alpha val="16000"/>
              </a:srgbClr>
            </a:outerShdw>
          </a:effectLst>
        </a:effectStyle>
        <a:effectStyle>
          <a:effectLst>
            <a:outerShdw blurRad="266700" dist="95250" dir="5400000">
              <a:srgbClr val="000000">
                <a:alpha val="24000"/>
              </a:srgbClr>
            </a:outerShdw>
          </a:effectLst>
        </a:effectStyle>
      </a:effectStyleLst>
      <a:bgFillStyleLst>
        <a:solidFill>
          <a:schemeClr val="phClr"/>
        </a:solidFill>
        <a:solidFill>
          <a:schemeClr val="phClr">
            <a:tint val="95000"/>
            <a:satMod val="170000"/>
          </a:schemeClr>
        </a:solidFill>
        <a:gradFill>
          <a:gsLst>
            <a:gs pos="0">
              <a:schemeClr val="phClr">
                <a:tint val="93000"/>
                <a:shade val="98000"/>
                <a:lumMod val="102000"/>
                <a:satMod val="150000"/>
              </a:schemeClr>
            </a:gs>
            <a:gs pos="50000">
              <a:schemeClr val="phClr">
                <a:tint val="98000"/>
                <a:shade val="90000"/>
                <a:lumMod val="103000"/>
                <a:satMod val="130000"/>
              </a:schemeClr>
            </a:gs>
            <a:gs pos="100000">
              <a:schemeClr val="phClr">
                <a:shade val="63000"/>
                <a:satMod val="120000"/>
              </a:schemeClr>
            </a:gs>
          </a:gsLst>
          <a:lin ang="5400000" scaled="0"/>
        </a:gradFill>
      </a:bgFillStyleLst>
    </a:fmtScheme>
  </a:themeElements>
</a:theme>
</file>

<file path=ppt/notesSlides/_rels/notesSlide1.xml.rels>&#65279;<?xml version="1.0" encoding="utf-8"?><Relationships xmlns="http://schemas.openxmlformats.org/package/2006/relationships"><Relationship Type="http://schemas.openxmlformats.org/officeDocument/2006/relationships/slide" Target="/ppt/slides/slide1.xml" Id="R811a37f9db194c87" /><Relationship Type="http://schemas.openxmlformats.org/officeDocument/2006/relationships/notesMaster" Target="/ppt/notesMasters/notesMaster1.xml" Id="Rc8351709a4344d67" /></Relationships>
</file>

<file path=ppt/notesSlides/_rels/notesSlide2.xml.rels>&#65279;<?xml version="1.0" encoding="utf-8"?><Relationships xmlns="http://schemas.openxmlformats.org/package/2006/relationships"><Relationship Type="http://schemas.openxmlformats.org/officeDocument/2006/relationships/slide" Target="/ppt/slides/slide2.xml" Id="R3cb70fd4550b49e5" /><Relationship Type="http://schemas.openxmlformats.org/officeDocument/2006/relationships/notesMaster" Target="/ppt/notesMasters/notesMaster1.xml" Id="Ra9038c95a0124155" /></Relationships>
</file>

<file path=ppt/notesSlides/_rels/notesSlide3.xml.rels>&#65279;<?xml version="1.0" encoding="utf-8"?><Relationships xmlns="http://schemas.openxmlformats.org/package/2006/relationships"><Relationship Type="http://schemas.openxmlformats.org/officeDocument/2006/relationships/slide" Target="/ppt/slides/slide3.xml" Id="R58c09bcf164c440b" /><Relationship Type="http://schemas.openxmlformats.org/officeDocument/2006/relationships/notesMaster" Target="/ppt/notesMasters/notesMaster1.xml" Id="R47654f2b65e84146" /></Relationships>
</file>

<file path=ppt/notesSlides/_rels/notesSlide4.xml.rels>&#65279;<?xml version="1.0" encoding="utf-8"?><Relationships xmlns="http://schemas.openxmlformats.org/package/2006/relationships"><Relationship Type="http://schemas.openxmlformats.org/officeDocument/2006/relationships/slide" Target="/ppt/slides/slide4.xml" Id="R375aaac2b72840dc" /><Relationship Type="http://schemas.openxmlformats.org/officeDocument/2006/relationships/notesMaster" Target="/ppt/notesMasters/notesMaster1.xml" Id="R8a5ba36b7a6b41c6" /></Relationships>
</file>

<file path=ppt/notesSlides/notesSlide1.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Regulatory evidence is abundant, but it is scattered across portals, PDFs, scans, and languages. The RDTII Extraction Engine makes that evidence computable without hiding the source. In our completed six-run set, the evaluator recovered 27 out of 27 known indicator checks, and the Singapore Pillar 7 run logged a model cost of just $0.43.</a:t>
            </a:r>
          </a:p>
          <a:p xmlns:a="http://schemas.openxmlformats.org/drawingml/2006/main">
            <a:r>
              <a:t/>
            </a:r>
          </a:p>
          <a:p xmlns:a="http://schemas.openxmlformats.org/drawingml/2006/main">
            <a:r>
              <a:t>[Sources]</a:t>
            </a:r>
          </a:p>
          <a:p xmlns:a="http://schemas.openxmlformats.org/drawingml/2006/main">
            <a:r>
              <a:t>- Internal project evidence: pitch_day/deck/RDTII_Live_Pitch_2026.pptx</a:t>
            </a:r>
          </a:p>
          <a:p xmlns:a="http://schemas.openxmlformats.org/drawingml/2006/main">
            <a:r>
              <a:t>- Internal architecture and run documentation: AGENTS.md</a:t>
            </a:r>
          </a:p>
          <a:p xmlns:a="http://schemas.openxmlformats.org/drawingml/2006/main">
            <a:r>
              <a:t>[/Sources]</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2.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The architecture has two zones, but the experience is one traceable chain. First, the engine finds and ranks relevant official documents and labels candidates as known or new. Then it fetches the document, runs extraction and retrieval, maps provisions to RDTII indicators, validates the evidence, and writes CSV or JSON. Throughout that process, the official source, exact provision, indicator, confidence, and reviewer notes stay visible.</a:t>
            </a:r>
          </a:p>
          <a:p xmlns:a="http://schemas.openxmlformats.org/drawingml/2006/main">
            <a:r>
              <a:t/>
            </a:r>
          </a:p>
          <a:p xmlns:a="http://schemas.openxmlformats.org/drawingml/2006/main">
            <a:r>
              <a:t>[Sources]</a:t>
            </a:r>
          </a:p>
          <a:p xmlns:a="http://schemas.openxmlformats.org/drawingml/2006/main">
            <a:r>
              <a:t>- Internal project evidence: pitch_day/deck/RDTII_Live_Pitch_2026.pptx</a:t>
            </a:r>
          </a:p>
          <a:p xmlns:a="http://schemas.openxmlformats.org/drawingml/2006/main">
            <a:r>
              <a:t>- Internal architecture and run documentation: AGENTS.md</a:t>
            </a:r>
          </a:p>
          <a:p xmlns:a="http://schemas.openxmlformats.org/drawingml/2006/main">
            <a:r>
              <a:t>[/Sources]</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3.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Here is the concrete output. From the official Singapore Statutes Online source, the run retained the source text and produced both a new provision candidate and a known indicator check. Those labels tell a reviewer whether the provision belongs to the reference set or needs policy review, while the confidence score and exact section remain attached to the result.</a:t>
            </a:r>
          </a:p>
          <a:p xmlns:a="http://schemas.openxmlformats.org/drawingml/2006/main">
            <a:r>
              <a:t/>
            </a:r>
          </a:p>
          <a:p xmlns:a="http://schemas.openxmlformats.org/drawingml/2006/main">
            <a:r>
              <a:t>[Sources]</a:t>
            </a:r>
          </a:p>
          <a:p xmlns:a="http://schemas.openxmlformats.org/drawingml/2006/main">
            <a:r>
              <a:t>- Internal project evidence: pitch_day/deck/RDTII_Live_Pitch_2026.pptx</a:t>
            </a:r>
          </a:p>
          <a:p xmlns:a="http://schemas.openxmlformats.org/drawingml/2006/main">
            <a:r>
              <a:t>- Internal architecture and run documentation: AGENTS.md</a:t>
            </a:r>
          </a:p>
          <a:p xmlns:a="http://schemas.openxmlformats.org/drawingml/2006/main">
            <a:r>
              <a:t>[/Sources]</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4.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This is where the opportunity opens up. We can extend the same configurable engine across multiple RDTII pillars and more economies. Then we can connect the evidence layer to an HS code, an origin country, and a destination country, so a trader could eventually find the relevant official laws, regulations, permits, and steps for a route. That future product would remain grounded in the source evidence we have just demonstrated.</a:t>
            </a:r>
          </a:p>
          <a:p xmlns:a="http://schemas.openxmlformats.org/drawingml/2006/main">
            <a:r>
              <a:t/>
            </a:r>
          </a:p>
          <a:p xmlns:a="http://schemas.openxmlformats.org/drawingml/2006/main">
            <a:r>
              <a:t>[Sources]</a:t>
            </a:r>
          </a:p>
          <a:p xmlns:a="http://schemas.openxmlformats.org/drawingml/2006/main">
            <a:r>
              <a:t>- Internal project evidence: pitch_day/deck/RDTII_Live_Pitch_2026.pptx</a:t>
            </a:r>
          </a:p>
          <a:p xmlns:a="http://schemas.openxmlformats.org/drawingml/2006/main">
            <a:r>
              <a:t>- Internal architecture and run documentation: AGENTS.md</a:t>
            </a:r>
          </a:p>
          <a:p xmlns:a="http://schemas.openxmlformats.org/drawingml/2006/main">
            <a:r>
              <a:t>[/Sources]</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slideLayouts/_rels/slideLayout1.xml.rels>&#65279;<?xml version="1.0" encoding="utf-8"?><Relationships xmlns="http://schemas.openxmlformats.org/package/2006/relationships"><Relationship Type="http://schemas.openxmlformats.org/officeDocument/2006/relationships/slideMaster" Target="/ppt/slideMasters/slideMaster1.xml" Id="R496f2630e693436a" /></Relationships>
</file>

<file path=ppt/slideLayouts/slideLayout1.xml><?xml version="1.0" encoding="utf-8"?>
<p:sldLayout xmlns:p="http://schemas.openxmlformats.org/presentationml/2006/main" type="title">
  <p:cSld name="Title Slide">
    <p:spTree>
      <p:nvGrpSpPr>
        <p:cNvPr id="1" name=""/>
        <p:cNvGrpSpPr/>
        <p:nvPr/>
      </p:nvGrpSpPr>
      <p:grpSpPr>
        <a:xfrm xmlns:a="http://schemas.openxmlformats.org/drawingml/2006/main"/>
      </p:grpSpPr>
    </p:spTree>
  </p:cSld>
</p:sldLayout>
</file>

<file path=ppt/slideMasters/_rels/slideMaster1.xml.rels>&#65279;<?xml version="1.0" encoding="utf-8"?><Relationships xmlns="http://schemas.openxmlformats.org/package/2006/relationships"><Relationship Type="http://schemas.openxmlformats.org/officeDocument/2006/relationships/theme" Target="/ppt/slideMasters/theme/theme2.xml" Id="R47d330d4ea8e40a6" /><Relationship Type="http://schemas.openxmlformats.org/officeDocument/2006/relationships/slideLayout" Target="/ppt/slideLayouts/slideLayout1.xml" Id="Raa0d90f068574b8f" /></Relationships>
</file>

<file path=ppt/slideMasters/slideMaster1.xml><?xml version="1.0" encoding="utf-8"?>
<p:sldMaster xmlns:p="http://schemas.openxmlformats.org/presentationml/2006/main">
  <p:cSld name="Master">
    <p:bg>
      <p:bgRef idx="1001">
        <a:schemeClr xmlns:a="http://schemas.openxmlformats.org/drawingml/2006/main" val="bg1"/>
      </p:bgRef>
    </p:bg>
    <p:spTree>
      <p:nvGrpSpPr>
        <p:cNvPr id="1" name=""/>
        <p:cNvGrpSpPr/>
        <p:nvPr/>
      </p:nvGrpSpPr>
      <p:grpSpPr>
        <a:xfrm xmlns:a="http://schemas.openxmlformats.org/drawingml/2006/main"/>
      </p:grpSpPr>
    </p:spTree>
  </p:cSld>
  <p:clrMap bg1="lt1" tx1="dk1" bg2="lt2" tx2="dk2" accent1="accent1" accent2="accent2" accent3="accent3" accent4="accent4" accent5="accent5" accent6="accent6" hlink="hlink" folHlink="folHlink"/>
  <p:sldLayoutIdLst>
    <p:sldLayoutId xmlns:r="http://schemas.openxmlformats.org/officeDocument/2006/relationships" id="2147483649" r:id="Raa0d90f068574b8f"/>
  </p:sldLayoutIdLst>
  <p:txStyles>
    <p:titleStyle>
      <a:lvl1pPr xmlns:a="http://schemas.openxmlformats.org/drawingml/2006/main" algn="l">
        <a:lnSpc>
          <a:spcPct val="90000"/>
        </a:lnSpc>
        <a:spcBef>
          <a:spcPts val="0"/>
        </a:spcBef>
        <a:buNone/>
        <a:defRPr sz="4400">
          <a:solidFill>
            <a:schemeClr val="tx1"/>
          </a:solidFill>
          <a:latin typeface="+mj-lt"/>
          <a:ea typeface="+mj-lt"/>
          <a:cs typeface="+mj-lt"/>
        </a:defRPr>
      </a:lvl1pPr>
    </p:titleStyle>
    <p:bodyStyle>
      <a:lvl1pPr xmlns:a="http://schemas.openxmlformats.org/drawingml/2006/main" marL="228600" indent="-228600" algn="l">
        <a:lnSpc>
          <a:spcPct val="90000"/>
        </a:lnSpc>
        <a:spcBef>
          <a:spcPts val="1000"/>
        </a:spcBef>
        <a:buChar char="•"/>
        <a:defRPr sz="2800">
          <a:solidFill>
            <a:schemeClr val="tx1"/>
          </a:solidFill>
          <a:latin typeface="+mn-lt"/>
          <a:ea typeface="+mn-lt"/>
          <a:cs typeface="+mn-lt"/>
        </a:defRPr>
      </a:lvl1pPr>
      <a:lvl2pPr xmlns:a="http://schemas.openxmlformats.org/drawingml/2006/main" marL="685800" indent="-228600" algn="l">
        <a:lnSpc>
          <a:spcPct val="90000"/>
        </a:lnSpc>
        <a:spcBef>
          <a:spcPts val="500"/>
        </a:spcBef>
        <a:buChar char="•"/>
        <a:defRPr sz="2400">
          <a:solidFill>
            <a:schemeClr val="tx1"/>
          </a:solidFill>
          <a:latin typeface="+mn-lt"/>
          <a:ea typeface="+mn-lt"/>
          <a:cs typeface="+mn-lt"/>
        </a:defRPr>
      </a:lvl2pPr>
      <a:lvl3pPr xmlns:a="http://schemas.openxmlformats.org/drawingml/2006/main" marL="1143000" indent="-228600" algn="l">
        <a:lnSpc>
          <a:spcPct val="90000"/>
        </a:lnSpc>
        <a:spcBef>
          <a:spcPts val="500"/>
        </a:spcBef>
        <a:buChar char="•"/>
        <a:defRPr sz="2000">
          <a:solidFill>
            <a:schemeClr val="tx1"/>
          </a:solidFill>
          <a:latin typeface="+mn-lt"/>
          <a:ea typeface="+mn-lt"/>
          <a:cs typeface="+mn-lt"/>
        </a:defRPr>
      </a:lvl3pPr>
      <a:lvl4pPr xmlns:a="http://schemas.openxmlformats.org/drawingml/2006/main" marL="1600200" indent="-228600" algn="l">
        <a:lnSpc>
          <a:spcPct val="90000"/>
        </a:lnSpc>
        <a:spcBef>
          <a:spcPts val="500"/>
        </a:spcBef>
        <a:buChar char="•"/>
        <a:defRPr sz="1800">
          <a:solidFill>
            <a:schemeClr val="tx1"/>
          </a:solidFill>
          <a:latin typeface="+mn-lt"/>
          <a:ea typeface="+mn-lt"/>
          <a:cs typeface="+mn-lt"/>
        </a:defRPr>
      </a:lvl4pPr>
      <a:lvl5pPr xmlns:a="http://schemas.openxmlformats.org/drawingml/2006/main" marL="2057400" indent="-228600" algn="l">
        <a:lnSpc>
          <a:spcPct val="90000"/>
        </a:lnSpc>
        <a:spcBef>
          <a:spcPts val="500"/>
        </a:spcBef>
        <a:buChar char="•"/>
        <a:defRPr sz="1800">
          <a:solidFill>
            <a:schemeClr val="tx1"/>
          </a:solidFill>
          <a:latin typeface="+mn-lt"/>
          <a:ea typeface="+mn-lt"/>
          <a:cs typeface="+mn-lt"/>
        </a:defRPr>
      </a:lvl5pPr>
      <a:lvl6pPr xmlns:a="http://schemas.openxmlformats.org/drawingml/2006/main" marL="2514600" indent="-228600" algn="l">
        <a:lnSpc>
          <a:spcPct val="90000"/>
        </a:lnSpc>
        <a:spcBef>
          <a:spcPts val="500"/>
        </a:spcBef>
        <a:buChar char="•"/>
        <a:defRPr sz="1800">
          <a:solidFill>
            <a:schemeClr val="tx1"/>
          </a:solidFill>
          <a:latin typeface="+mn-lt"/>
          <a:ea typeface="+mn-lt"/>
          <a:cs typeface="+mn-lt"/>
        </a:defRPr>
      </a:lvl6pPr>
      <a:lvl7pPr xmlns:a="http://schemas.openxmlformats.org/drawingml/2006/main" marL="2971800" indent="-228600" algn="l">
        <a:lnSpc>
          <a:spcPct val="90000"/>
        </a:lnSpc>
        <a:spcBef>
          <a:spcPts val="500"/>
        </a:spcBef>
        <a:buChar char="•"/>
        <a:defRPr sz="1800">
          <a:solidFill>
            <a:schemeClr val="tx1"/>
          </a:solidFill>
          <a:latin typeface="+mn-lt"/>
          <a:ea typeface="+mn-lt"/>
          <a:cs typeface="+mn-lt"/>
        </a:defRPr>
      </a:lvl7pPr>
      <a:lvl8pPr xmlns:a="http://schemas.openxmlformats.org/drawingml/2006/main" marL="3429000" indent="-228600" algn="l">
        <a:lnSpc>
          <a:spcPct val="90000"/>
        </a:lnSpc>
        <a:spcBef>
          <a:spcPts val="500"/>
        </a:spcBef>
        <a:buChar char="•"/>
        <a:defRPr sz="1800">
          <a:solidFill>
            <a:schemeClr val="tx1"/>
          </a:solidFill>
          <a:latin typeface="+mn-lt"/>
          <a:ea typeface="+mn-lt"/>
          <a:cs typeface="+mn-lt"/>
        </a:defRPr>
      </a:lvl8pPr>
      <a:lvl9pPr xmlns:a="http://schemas.openxmlformats.org/drawingml/2006/main" marL="3886200" indent="-228600" algn="l">
        <a:lnSpc>
          <a:spcPct val="90000"/>
        </a:lnSpc>
        <a:spcBef>
          <a:spcPts val="500"/>
        </a:spcBef>
        <a:buChar char="•"/>
        <a:defRPr sz="1800">
          <a:solidFill>
            <a:schemeClr val="tx1"/>
          </a:solidFill>
          <a:latin typeface="+mn-lt"/>
          <a:ea typeface="+mn-lt"/>
          <a:cs typeface="+mn-lt"/>
        </a:defRPr>
      </a:lvl9pPr>
    </p:bodyStyle>
    <p:otherStyle>
      <a:lvl1pPr xmlns:a="http://schemas.openxmlformats.org/drawingml/2006/main" marL="0" algn="l">
        <a:buNone/>
        <a:defRPr sz="1800">
          <a:solidFill>
            <a:schemeClr val="tx1"/>
          </a:solidFill>
          <a:latin typeface="+mn-lt"/>
          <a:ea typeface="+mn-lt"/>
          <a:cs typeface="+mn-lt"/>
        </a:defRPr>
      </a:lvl1pPr>
      <a:lvl2pPr xmlns:a="http://schemas.openxmlformats.org/drawingml/2006/main" marL="457200" algn="l">
        <a:buNone/>
        <a:defRPr sz="1800">
          <a:solidFill>
            <a:schemeClr val="tx1"/>
          </a:solidFill>
          <a:latin typeface="+mn-lt"/>
          <a:ea typeface="+mn-lt"/>
          <a:cs typeface="+mn-lt"/>
        </a:defRPr>
      </a:lvl2pPr>
      <a:lvl3pPr xmlns:a="http://schemas.openxmlformats.org/drawingml/2006/main" marL="914400" algn="l">
        <a:buNone/>
        <a:defRPr sz="1800">
          <a:solidFill>
            <a:schemeClr val="tx1"/>
          </a:solidFill>
          <a:latin typeface="+mn-lt"/>
          <a:ea typeface="+mn-lt"/>
          <a:cs typeface="+mn-lt"/>
        </a:defRPr>
      </a:lvl3pPr>
      <a:lvl4pPr xmlns:a="http://schemas.openxmlformats.org/drawingml/2006/main" marL="1371600" algn="l">
        <a:buNone/>
        <a:defRPr sz="1800">
          <a:solidFill>
            <a:schemeClr val="tx1"/>
          </a:solidFill>
          <a:latin typeface="+mn-lt"/>
          <a:ea typeface="+mn-lt"/>
          <a:cs typeface="+mn-lt"/>
        </a:defRPr>
      </a:lvl4pPr>
      <a:lvl5pPr xmlns:a="http://schemas.openxmlformats.org/drawingml/2006/main" marL="1828800" algn="l">
        <a:buNone/>
        <a:defRPr sz="1800">
          <a:solidFill>
            <a:schemeClr val="tx1"/>
          </a:solidFill>
          <a:latin typeface="+mn-lt"/>
          <a:ea typeface="+mn-lt"/>
          <a:cs typeface="+mn-lt"/>
        </a:defRPr>
      </a:lvl5pPr>
      <a:lvl6pPr xmlns:a="http://schemas.openxmlformats.org/drawingml/2006/main" marL="2286000" algn="l">
        <a:buNone/>
        <a:defRPr sz="1800">
          <a:solidFill>
            <a:schemeClr val="tx1"/>
          </a:solidFill>
          <a:latin typeface="+mn-lt"/>
          <a:ea typeface="+mn-lt"/>
          <a:cs typeface="+mn-lt"/>
        </a:defRPr>
      </a:lvl6pPr>
      <a:lvl7pPr xmlns:a="http://schemas.openxmlformats.org/drawingml/2006/main" marL="2743200" algn="l">
        <a:buNone/>
        <a:defRPr sz="1800">
          <a:solidFill>
            <a:schemeClr val="tx1"/>
          </a:solidFill>
          <a:latin typeface="+mn-lt"/>
          <a:ea typeface="+mn-lt"/>
          <a:cs typeface="+mn-lt"/>
        </a:defRPr>
      </a:lvl7pPr>
      <a:lvl8pPr xmlns:a="http://schemas.openxmlformats.org/drawingml/2006/main" marL="3200400" algn="l">
        <a:buNone/>
        <a:defRPr sz="1800">
          <a:solidFill>
            <a:schemeClr val="tx1"/>
          </a:solidFill>
          <a:latin typeface="+mn-lt"/>
          <a:ea typeface="+mn-lt"/>
          <a:cs typeface="+mn-lt"/>
        </a:defRPr>
      </a:lvl8pPr>
      <a:lvl9pPr xmlns:a="http://schemas.openxmlformats.org/drawingml/2006/main" marL="3657600" algn="l">
        <a:buNone/>
        <a:defRPr sz="1800">
          <a:solidFill>
            <a:schemeClr val="tx1"/>
          </a:solidFill>
          <a:latin typeface="+mn-lt"/>
          <a:ea typeface="+mn-lt"/>
          <a:cs typeface="+mn-lt"/>
        </a:defRPr>
      </a:lvl9pPr>
    </p:otherStyle>
  </p:txStyles>
</p:sldMaster>
</file>

<file path=ppt/slideMasters/theme/theme2.xml><?xml version="1.0" encoding="utf-8"?>
<a:theme xmlns:a="http://schemas.openxmlformats.org/drawingml/2006/main" name="ChatGPT">
  <a:themeElements>
    <a:clrScheme name="ChatGPT">
      <a:dk1>
        <a:srgbClr val="000000"/>
      </a:dk1>
      <a:lt1>
        <a:srgbClr val="FFFFFF"/>
      </a:lt1>
      <a:dk2>
        <a:srgbClr val="0E2841"/>
      </a:dk2>
      <a:lt2>
        <a:srgbClr val="E8E8E8"/>
      </a:lt2>
      <a:accent1>
        <a:srgbClr val="156082"/>
      </a:accent1>
      <a:accent2>
        <a:srgbClr val="E97132"/>
      </a:accent2>
      <a:accent3>
        <a:srgbClr val="196B24"/>
      </a:accent3>
      <a:accent4>
        <a:srgbClr val="0F9ED5"/>
      </a:accent4>
      <a:accent5>
        <a:srgbClr val="A02B93"/>
      </a:accent5>
      <a:accent6>
        <a:srgbClr val="4EA72E"/>
      </a:accent6>
      <a:hlink>
        <a:srgbClr val="467886"/>
      </a:hlink>
      <a:folHlink>
        <a:srgbClr val="96607D"/>
      </a:folHlink>
    </a:clrScheme>
    <a:fontScheme name="Office">
      <a:majorFont>
        <a:latin typeface="Calibri Light"/>
        <a:ea typeface="Calibri Light"/>
        <a:cs typeface="Calibri Light"/>
      </a:majorFont>
      <a:minorFont>
        <a:latin typeface="Calibri"/>
        <a:ea typeface="Calibri"/>
        <a:cs typeface="Calibri"/>
      </a:minorFont>
    </a:fontScheme>
    <a:fmtScheme name="ChatGPT">
      <a:fillStyleLst>
        <a:solidFill>
          <a:schemeClr val="phClr"/>
        </a:solidFill>
        <a:gradFill>
          <a:gsLst>
            <a:gs pos="0">
              <a:schemeClr val="phClr">
                <a:tint val="67000"/>
                <a:lumMod val="110000"/>
                <a:satMod val="105000"/>
              </a:schemeClr>
            </a:gs>
            <a:gs pos="50000">
              <a:schemeClr val="phClr">
                <a:tint val="73000"/>
                <a:lumMod val="105000"/>
                <a:satMod val="103000"/>
              </a:schemeClr>
            </a:gs>
            <a:gs pos="100000">
              <a:schemeClr val="phClr">
                <a:tint val="81000"/>
                <a:lumMod val="105000"/>
                <a:satMod val="109000"/>
              </a:schemeClr>
            </a:gs>
          </a:gsLst>
          <a:lin ang="5400000" scaled="0"/>
        </a:gradFill>
        <a:gradFill>
          <a:gsLst>
            <a:gs pos="0">
              <a:schemeClr val="phClr">
                <a:tint val="94000"/>
                <a:lumMod val="102000"/>
                <a:satMod val="103000"/>
              </a:schemeClr>
            </a:gs>
            <a:gs pos="50000">
              <a:schemeClr val="phClr">
                <a:shade val="100000"/>
                <a:lumMod val="100000"/>
                <a:satMod val="110000"/>
              </a:schemeClr>
            </a:gs>
            <a:gs pos="100000">
              <a:schemeClr val="phClr">
                <a:shade val="78000"/>
                <a:lumMod val="99000"/>
                <a:satMod val="120000"/>
              </a:schemeClr>
            </a:gs>
          </a:gsLst>
          <a:lin ang="5400000" scaled="0"/>
        </a:gradFill>
      </a:fillStyleLst>
      <a:lnStyleLst>
        <a:ln w="12700">
          <a:solidFill>
            <a:schemeClr val="phClr"/>
          </a:solidFill>
          <a:prstDash val="solid"/>
        </a:ln>
        <a:ln w="19050">
          <a:solidFill>
            <a:schemeClr val="phClr"/>
          </a:solidFill>
          <a:prstDash val="solid"/>
        </a:ln>
        <a:ln w="25400">
          <a:solidFill>
            <a:schemeClr val="phClr"/>
          </a:solidFill>
          <a:prstDash val="solid"/>
        </a:ln>
      </a:lnStyleLst>
      <a:effectStyleLst>
        <a:effectStyle>
          <a:effectLst/>
        </a:effectStyle>
        <a:effectStyle>
          <a:effectLst/>
        </a:effectStyle>
        <a:effectStyle>
          <a:effectLst>
            <a:outerShdw blurRad="57150" dist="19050" dir="5400000">
              <a:srgbClr val="000000">
                <a:alpha val="16000"/>
              </a:srgbClr>
            </a:outerShdw>
          </a:effectLst>
        </a:effectStyle>
        <a:effectStyle>
          <a:effectLst>
            <a:outerShdw blurRad="19050" dist="9525" dir="5400000">
              <a:srgbClr val="000000">
                <a:alpha val="6000"/>
              </a:srgbClr>
            </a:outerShdw>
          </a:effectLst>
        </a:effectStyle>
        <a:effectStyle>
          <a:effectLst>
            <a:outerShdw blurRad="28575" dist="9525" dir="5400000">
              <a:srgbClr val="000000">
                <a:alpha val="8000"/>
              </a:srgbClr>
            </a:outerShdw>
          </a:effectLst>
        </a:effectStyle>
        <a:effectStyle>
          <a:effectLst>
            <a:outerShdw blurRad="57150" dist="19050" dir="5400000">
              <a:srgbClr val="000000">
                <a:alpha val="10000"/>
              </a:srgbClr>
            </a:outerShdw>
          </a:effectLst>
        </a:effectStyle>
        <a:effectStyle>
          <a:effectLst>
            <a:outerShdw blurRad="114300" dist="38100" dir="5400000">
              <a:srgbClr val="000000">
                <a:alpha val="12000"/>
              </a:srgbClr>
            </a:outerShdw>
          </a:effectLst>
        </a:effectStyle>
        <a:effectStyle>
          <a:effectLst>
            <a:outerShdw blurRad="171450" dist="57150" dir="5400000">
              <a:srgbClr val="000000">
                <a:alpha val="16000"/>
              </a:srgbClr>
            </a:outerShdw>
          </a:effectLst>
        </a:effectStyle>
        <a:effectStyle>
          <a:effectLst>
            <a:outerShdw blurRad="266700" dist="95250" dir="5400000">
              <a:srgbClr val="000000">
                <a:alpha val="24000"/>
              </a:srgbClr>
            </a:outerShdw>
          </a:effectLst>
        </a:effectStyle>
      </a:effectStyleLst>
      <a:bgFillStyleLst>
        <a:solidFill>
          <a:schemeClr val="phClr"/>
        </a:solidFill>
        <a:solidFill>
          <a:schemeClr val="phClr">
            <a:tint val="95000"/>
            <a:satMod val="170000"/>
          </a:schemeClr>
        </a:solidFill>
        <a:gradFill>
          <a:gsLst>
            <a:gs pos="0">
              <a:schemeClr val="phClr">
                <a:tint val="93000"/>
                <a:shade val="98000"/>
                <a:lumMod val="102000"/>
                <a:satMod val="150000"/>
              </a:schemeClr>
            </a:gs>
            <a:gs pos="50000">
              <a:schemeClr val="phClr">
                <a:tint val="98000"/>
                <a:shade val="90000"/>
                <a:lumMod val="103000"/>
                <a:satMod val="130000"/>
              </a:schemeClr>
            </a:gs>
            <a:gs pos="100000">
              <a:schemeClr val="phClr">
                <a:shade val="63000"/>
                <a:satMod val="120000"/>
              </a:schemeClr>
            </a:gs>
          </a:gsLst>
          <a:lin ang="5400000" scaled="0"/>
        </a:gradFill>
      </a:bgFillStyleLst>
    </a:fmtScheme>
  </a:themeElements>
</a:theme>
</file>

<file path=ppt/slides/_rels/slide1.xml.rels>&#65279;<?xml version="1.0" encoding="utf-8"?><Relationships xmlns="http://schemas.openxmlformats.org/package/2006/relationships"><Relationship Type="http://schemas.openxmlformats.org/officeDocument/2006/relationships/slideLayout" Target="/ppt/slideLayouts/slideLayout1.xml" Id="Rbb93c8c7e0a44877" /><Relationship Type="http://schemas.openxmlformats.org/officeDocument/2006/relationships/notesSlide" Target="/ppt/notesSlides/notesSlide1.xml" Id="Rde0fd09397034de2" /></Relationships>
</file>

<file path=ppt/slides/_rels/slide2.xml.rels>&#65279;<?xml version="1.0" encoding="utf-8"?><Relationships xmlns="http://schemas.openxmlformats.org/package/2006/relationships"><Relationship Type="http://schemas.openxmlformats.org/officeDocument/2006/relationships/slideLayout" Target="/ppt/slideLayouts/slideLayout1.xml" Id="R5b5f8bd27b504d12" /><Relationship Type="http://schemas.openxmlformats.org/officeDocument/2006/relationships/notesSlide" Target="/ppt/notesSlides/notesSlide2.xml" Id="Ra82f6ff4fbdc44a8" /></Relationships>
</file>

<file path=ppt/slides/_rels/slide3.xml.rels>&#65279;<?xml version="1.0" encoding="utf-8"?><Relationships xmlns="http://schemas.openxmlformats.org/package/2006/relationships"><Relationship Type="http://schemas.openxmlformats.org/officeDocument/2006/relationships/slideLayout" Target="/ppt/slideLayouts/slideLayout1.xml" Id="Rbbf7c31909804c93" /><Relationship Type="http://schemas.openxmlformats.org/officeDocument/2006/relationships/notesSlide" Target="/ppt/notesSlides/notesSlide3.xml" Id="R8e77cd4c49f54389" /></Relationships>
</file>

<file path=ppt/slides/_rels/slide4.xml.rels>&#65279;<?xml version="1.0" encoding="utf-8"?><Relationships xmlns="http://schemas.openxmlformats.org/package/2006/relationships"><Relationship Type="http://schemas.openxmlformats.org/officeDocument/2006/relationships/slideLayout" Target="/ppt/slideLayouts/slideLayout1.xml" Id="Rac5cbe513406407d" /><Relationship Type="http://schemas.openxmlformats.org/officeDocument/2006/relationships/notesSlide" Target="/ppt/notesSlides/notesSlide4.xml" Id="R5211b6c3afba451e" /></Relationships>
</file>

<file path=ppt/slides/slide1.xml><?xml version="1.0" encoding="utf-8"?>
<p:sld xmlns:p="http://schemas.openxmlformats.org/presentationml/2006/main">
  <p:cSld>
    <p:bg>
      <p:bgPr>
        <a:solidFill xmlns:a="http://schemas.openxmlformats.org/drawingml/2006/main">
          <a:srgbClr val="0B2342"/>
        </a:solidFill>
      </p:bgPr>
    </p:bg>
    <p:spTree>
      <p:nvGrpSpPr>
        <p:cNvPr id="1" name=""/>
        <p:cNvGrpSpPr/>
        <p:nvPr/>
      </p:nvGrpSpPr>
      <p:grpSpPr>
        <a:xfrm xmlns:a="http://schemas.openxmlformats.org/drawingml/2006/main"/>
      </p:grpSpPr>
      <p:sp>
        <p:nvSpPr>
          <p:cNvPr id="15" name="">
            <a:extLst xmlns:a="http://schemas.openxmlformats.org/drawingml/2006/main">
              <a:ext uri="{FF2B5EF4-FFF2-40B4-BE49-F238E27FC236}">
                <a16:creationId xmlns:a16="http://schemas.microsoft.com/office/drawing/2014/main" id="{BB4620CB-26C1-4A84-88D5-48665D5F2179}"/>
              </a:ext>
            </a:extLst>
          </p:cNvPr>
          <p:cNvSpPr>
            <a:spLocks xmlns:a="http://schemas.openxmlformats.org/drawingml/2006/main" noGrp="1"/>
          </p:cNvSpPr>
          <p:nvPr/>
        </p:nvSpPr>
        <p:spPr>
          <a:xfrm xmlns:a="http://schemas.openxmlformats.org/drawingml/2006/main">
            <a:off x="838200" y="762000"/>
            <a:ext cx="4762500" cy="2286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p xmlns:a="http://schemas.openxmlformats.org/drawingml/2006/main">
            <a:pPr>
              <a:defRPr sz="1200" b="1" i="0">
                <a:solidFill>
                  <a:srgbClr val="28BDD0"/>
                </a:solidFill>
              </a:defRPr>
            </a:pPr>
            <a:r>
              <a:rPr sz="1200" b="1" i="0">
                <a:solidFill>
                  <a:srgbClr val="28BDD0"/>
                </a:solidFill>
              </a:rPr>
              <a:t>RDTII EXTRACTION ENGINE  ·  LIVE PITCH</a:t>
            </a:r>
          </a:p>
        </p:txBody>
      </p:sp>
      <p:sp>
        <p:nvSpPr>
          <p:cNvPr id="2" name="">
            <a:extLst xmlns:a="http://schemas.openxmlformats.org/drawingml/2006/main">
              <a:ext uri="{FF2B5EF4-FFF2-40B4-BE49-F238E27FC236}">
                <a16:creationId xmlns:a16="http://schemas.microsoft.com/office/drawing/2014/main" id="{13213F2F-24C3-4046-B2AA-2DCD3DB0CC78}"/>
              </a:ext>
            </a:extLst>
          </p:cNvPr>
          <p:cNvSpPr>
            <a:spLocks xmlns:a="http://schemas.openxmlformats.org/drawingml/2006/main" noGrp="1"/>
          </p:cNvSpPr>
          <p:nvPr/>
        </p:nvSpPr>
        <p:spPr>
          <a:xfrm xmlns:a="http://schemas.openxmlformats.org/drawingml/2006/main">
            <a:off x="819150" y="1466850"/>
            <a:ext cx="6667500" cy="14287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p xmlns:a="http://schemas.openxmlformats.org/drawingml/2006/main">
            <a:pPr>
              <a:lnSpc>
                <a:spcPct val="90000"/>
              </a:lnSpc>
              <a:buNone/>
              <a:defRPr sz="4050" b="1" i="0">
                <a:solidFill>
                  <a:srgbClr val="FFFFFF"/>
                </a:solidFill>
              </a:defRPr>
            </a:pPr>
            <a:r>
              <a:rPr sz="4050" b="1" i="0">
                <a:solidFill>
                  <a:srgbClr val="FFFFFF"/>
                </a:solidFill>
              </a:rPr>
              <a:t>Make regulatory</a:t>
            </a:r>
          </a:p>
          <a:p xmlns:a="http://schemas.openxmlformats.org/drawingml/2006/main">
            <a:pPr>
              <a:lnSpc>
                <a:spcPct val="90000"/>
              </a:lnSpc>
              <a:buNone/>
              <a:defRPr sz="4050" b="1" i="0">
                <a:solidFill>
                  <a:srgbClr val="FFFFFF"/>
                </a:solidFill>
              </a:defRPr>
            </a:pPr>
            <a:r>
              <a:rPr sz="4050" b="1" i="0">
                <a:solidFill>
                  <a:srgbClr val="FFFFFF"/>
                </a:solidFill>
              </a:rPr>
              <a:t>evidence computable.</a:t>
            </a:r>
          </a:p>
        </p:txBody>
      </p:sp>
      <p:sp>
        <p:nvSpPr>
          <p:cNvPr id="3" name="">
            <a:extLst xmlns:a="http://schemas.openxmlformats.org/drawingml/2006/main">
              <a:ext uri="{FF2B5EF4-FFF2-40B4-BE49-F238E27FC236}">
                <a16:creationId xmlns:a16="http://schemas.microsoft.com/office/drawing/2014/main" id="{79349B7B-5616-482B-A1B2-E7731F3D4B81}"/>
              </a:ext>
            </a:extLst>
          </p:cNvPr>
          <p:cNvSpPr>
            <a:spLocks xmlns:a="http://schemas.openxmlformats.org/drawingml/2006/main" noGrp="1"/>
          </p:cNvSpPr>
          <p:nvPr/>
        </p:nvSpPr>
        <p:spPr>
          <a:xfrm xmlns:a="http://schemas.openxmlformats.org/drawingml/2006/main">
            <a:off x="857250" y="3219450"/>
            <a:ext cx="5905500" cy="6096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p xmlns:a="http://schemas.openxmlformats.org/drawingml/2006/main">
            <a:pPr>
              <a:defRPr sz="1725" b="0" i="0">
                <a:solidFill>
                  <a:srgbClr val="D9E8F5"/>
                </a:solidFill>
              </a:defRPr>
            </a:pPr>
            <a:r>
              <a:rPr sz="1725" b="0" i="0">
                <a:solidFill>
                  <a:srgbClr val="D9E8F5"/>
                </a:solidFill>
              </a:rPr>
              <a:t>From official source to reviewer-ready indicator output — with the evidence still visible.</a:t>
            </a:r>
          </a:p>
        </p:txBody>
      </p:sp>
      <p:sp>
        <p:nvSpPr>
          <p:cNvPr id="4" name="">
            <a:extLst xmlns:a="http://schemas.openxmlformats.org/drawingml/2006/main">
              <a:ext uri="{FF2B5EF4-FFF2-40B4-BE49-F238E27FC236}">
                <a16:creationId xmlns:a16="http://schemas.microsoft.com/office/drawing/2014/main" id="{1C9C0173-E84D-4C99-8854-22419AE7B63B}"/>
              </a:ext>
            </a:extLst>
          </p:cNvPr>
          <p:cNvSpPr>
            <a:spLocks xmlns:a="http://schemas.openxmlformats.org/drawingml/2006/main" noGrp="1"/>
          </p:cNvSpPr>
          <p:nvPr/>
        </p:nvSpPr>
        <p:spPr>
          <a:xfrm xmlns:a="http://schemas.openxmlformats.org/drawingml/2006/main">
            <a:off x="838200" y="4495800"/>
            <a:ext cx="3143250" cy="742950"/>
          </a:xfrm>
          <a:prstGeom xmlns:a="http://schemas.openxmlformats.org/drawingml/2006/main" prst="roundRect">
            <a:avLst>
              <a:gd name="adj" fmla="val 17949"/>
            </a:avLst>
          </a:prstGeom>
          <a:solidFill xmlns:a="http://schemas.openxmlformats.org/drawingml/2006/main">
            <a:srgbClr val="163A63"/>
          </a:solidFill>
          <a:ln xmlns:a="http://schemas.openxmlformats.org/drawingml/2006/main" w="9525">
            <a:solidFill>
              <a:srgbClr val="2E6397"/>
            </a:solidFill>
            <a:prstDash val="solid"/>
          </a:ln>
        </p:spPr>
      </p:sp>
      <p:sp>
        <p:nvSpPr>
          <p:cNvPr id="5" name="">
            <a:extLst xmlns:a="http://schemas.openxmlformats.org/drawingml/2006/main">
              <a:ext uri="{FF2B5EF4-FFF2-40B4-BE49-F238E27FC236}">
                <a16:creationId xmlns:a16="http://schemas.microsoft.com/office/drawing/2014/main" id="{584CC717-C12D-4467-BB9F-0425C3A3A065}"/>
              </a:ext>
            </a:extLst>
          </p:cNvPr>
          <p:cNvSpPr>
            <a:spLocks xmlns:a="http://schemas.openxmlformats.org/drawingml/2006/main" noGrp="1"/>
          </p:cNvSpPr>
          <p:nvPr/>
        </p:nvSpPr>
        <p:spPr>
          <a:xfrm xmlns:a="http://schemas.openxmlformats.org/drawingml/2006/main">
            <a:off x="1066800" y="4610100"/>
            <a:ext cx="1143000" cy="3619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p xmlns:a="http://schemas.openxmlformats.org/drawingml/2006/main">
            <a:pPr>
              <a:defRPr sz="2250" b="1" i="0">
                <a:solidFill>
                  <a:srgbClr val="FFFFFF"/>
                </a:solidFill>
              </a:defRPr>
            </a:pPr>
            <a:r>
              <a:rPr sz="2250" b="1" i="0">
                <a:solidFill>
                  <a:srgbClr val="FFFFFF"/>
                </a:solidFill>
              </a:rPr>
              <a:t>27 / 27</a:t>
            </a:r>
          </a:p>
        </p:txBody>
      </p:sp>
      <p:sp>
        <p:nvSpPr>
          <p:cNvPr id="6" name="">
            <a:extLst xmlns:a="http://schemas.openxmlformats.org/drawingml/2006/main">
              <a:ext uri="{FF2B5EF4-FFF2-40B4-BE49-F238E27FC236}">
                <a16:creationId xmlns:a16="http://schemas.microsoft.com/office/drawing/2014/main" id="{92F965DD-C38A-4B27-A46A-05FBAA8A34FE}"/>
              </a:ext>
            </a:extLst>
          </p:cNvPr>
          <p:cNvSpPr>
            <a:spLocks xmlns:a="http://schemas.openxmlformats.org/drawingml/2006/main" noGrp="1"/>
          </p:cNvSpPr>
          <p:nvPr/>
        </p:nvSpPr>
        <p:spPr>
          <a:xfrm xmlns:a="http://schemas.openxmlformats.org/drawingml/2006/main">
            <a:off x="1066800" y="5010150"/>
            <a:ext cx="2476500" cy="1714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p xmlns:a="http://schemas.openxmlformats.org/drawingml/2006/main">
            <a:pPr>
              <a:defRPr sz="1125" b="0" i="0">
                <a:solidFill>
                  <a:srgbClr val="D9E8F5"/>
                </a:solidFill>
              </a:defRPr>
            </a:pPr>
            <a:r>
              <a:rPr sz="1125" b="0" i="0">
                <a:solidFill>
                  <a:srgbClr val="D9E8F5"/>
                </a:solidFill>
              </a:rPr>
              <a:t>known indicator checks recovered</a:t>
            </a:r>
          </a:p>
        </p:txBody>
      </p:sp>
      <p:sp>
        <p:nvSpPr>
          <p:cNvPr id="7" name="">
            <a:extLst xmlns:a="http://schemas.openxmlformats.org/drawingml/2006/main">
              <a:ext uri="{FF2B5EF4-FFF2-40B4-BE49-F238E27FC236}">
                <a16:creationId xmlns:a16="http://schemas.microsoft.com/office/drawing/2014/main" id="{4BFA3D7C-AFFA-482F-8647-A4CE68470058}"/>
              </a:ext>
            </a:extLst>
          </p:cNvPr>
          <p:cNvSpPr>
            <a:spLocks xmlns:a="http://schemas.openxmlformats.org/drawingml/2006/main" noGrp="1"/>
          </p:cNvSpPr>
          <p:nvPr/>
        </p:nvSpPr>
        <p:spPr>
          <a:xfrm xmlns:a="http://schemas.openxmlformats.org/drawingml/2006/main">
            <a:off x="4324350" y="4610100"/>
            <a:ext cx="1238250" cy="3619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p xmlns:a="http://schemas.openxmlformats.org/drawingml/2006/main">
            <a:pPr>
              <a:defRPr sz="2250" b="1" i="0">
                <a:solidFill>
                  <a:srgbClr val="28BDD0"/>
                </a:solidFill>
              </a:defRPr>
            </a:pPr>
            <a:r>
              <a:rPr sz="2250" b="1" i="0">
                <a:solidFill>
                  <a:srgbClr val="28BDD0"/>
                </a:solidFill>
              </a:rPr>
              <a:t>$0.43</a:t>
            </a:r>
          </a:p>
        </p:txBody>
      </p:sp>
      <p:sp>
        <p:nvSpPr>
          <p:cNvPr id="8" name="">
            <a:extLst xmlns:a="http://schemas.openxmlformats.org/drawingml/2006/main">
              <a:ext uri="{FF2B5EF4-FFF2-40B4-BE49-F238E27FC236}">
                <a16:creationId xmlns:a16="http://schemas.microsoft.com/office/drawing/2014/main" id="{AD9DE708-6CEE-4B90-895D-68A1445CF52B}"/>
              </a:ext>
            </a:extLst>
          </p:cNvPr>
          <p:cNvSpPr>
            <a:spLocks xmlns:a="http://schemas.openxmlformats.org/drawingml/2006/main" noGrp="1"/>
          </p:cNvSpPr>
          <p:nvPr/>
        </p:nvSpPr>
        <p:spPr>
          <a:xfrm xmlns:a="http://schemas.openxmlformats.org/drawingml/2006/main">
            <a:off x="4324350" y="5010150"/>
            <a:ext cx="2571750" cy="1714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p xmlns:a="http://schemas.openxmlformats.org/drawingml/2006/main">
            <a:pPr>
              <a:defRPr sz="1125" b="0" i="0">
                <a:solidFill>
                  <a:srgbClr val="D9E8F5"/>
                </a:solidFill>
              </a:defRPr>
            </a:pPr>
            <a:r>
              <a:rPr sz="1125" b="0" i="0">
                <a:solidFill>
                  <a:srgbClr val="D9E8F5"/>
                </a:solidFill>
              </a:rPr>
              <a:t>recorded Singapore P7 model cost</a:t>
            </a:r>
          </a:p>
        </p:txBody>
      </p:sp>
      <p:sp>
        <p:nvSpPr>
          <p:cNvPr id="9" name="">
            <a:extLst xmlns:a="http://schemas.openxmlformats.org/drawingml/2006/main">
              <a:ext uri="{FF2B5EF4-FFF2-40B4-BE49-F238E27FC236}">
                <a16:creationId xmlns:a16="http://schemas.microsoft.com/office/drawing/2014/main" id="{96CE3996-825B-493B-9176-CA79EEE5ABCA}"/>
              </a:ext>
            </a:extLst>
          </p:cNvPr>
          <p:cNvSpPr>
            <a:spLocks xmlns:a="http://schemas.openxmlformats.org/drawingml/2006/main" noGrp="1"/>
          </p:cNvSpPr>
          <p:nvPr/>
        </p:nvSpPr>
        <p:spPr>
          <a:xfrm xmlns:a="http://schemas.openxmlformats.org/drawingml/2006/main">
            <a:off x="8572500" y="0"/>
            <a:ext cx="3619500" cy="3619500"/>
          </a:xfrm>
          <a:prstGeom xmlns:a="http://schemas.openxmlformats.org/drawingml/2006/main" prst="ellipse">
            <a:avLst/>
          </a:prstGeom>
          <a:solidFill xmlns:a="http://schemas.openxmlformats.org/drawingml/2006/main">
            <a:srgbClr val="1D78F2"/>
          </a:solidFill>
          <a:ln xmlns:a="http://schemas.openxmlformats.org/drawingml/2006/main" w="0">
            <a:noFill/>
            <a:prstDash val="solid"/>
          </a:ln>
        </p:spPr>
      </p:sp>
      <p:sp>
        <p:nvSpPr>
          <p:cNvPr id="10" name="">
            <a:extLst xmlns:a="http://schemas.openxmlformats.org/drawingml/2006/main">
              <a:ext uri="{FF2B5EF4-FFF2-40B4-BE49-F238E27FC236}">
                <a16:creationId xmlns:a16="http://schemas.microsoft.com/office/drawing/2014/main" id="{12296AB5-5C08-437E-A2C9-B4A8060FA2B0}"/>
              </a:ext>
            </a:extLst>
          </p:cNvPr>
          <p:cNvSpPr>
            <a:spLocks xmlns:a="http://schemas.openxmlformats.org/drawingml/2006/main" noGrp="1"/>
          </p:cNvSpPr>
          <p:nvPr/>
        </p:nvSpPr>
        <p:spPr>
          <a:xfrm xmlns:a="http://schemas.openxmlformats.org/drawingml/2006/main">
            <a:off x="10001250" y="3333750"/>
            <a:ext cx="2190750" cy="2190750"/>
          </a:xfrm>
          <a:prstGeom xmlns:a="http://schemas.openxmlformats.org/drawingml/2006/main" prst="ellipse">
            <a:avLst/>
          </a:prstGeom>
          <a:solidFill xmlns:a="http://schemas.openxmlformats.org/drawingml/2006/main">
            <a:srgbClr val="28BDD0"/>
          </a:solidFill>
          <a:ln xmlns:a="http://schemas.openxmlformats.org/drawingml/2006/main" w="0">
            <a:noFill/>
            <a:prstDash val="solid"/>
          </a:ln>
        </p:spPr>
      </p:sp>
      <p:sp>
        <p:nvSpPr>
          <p:cNvPr id="11" name="">
            <a:extLst xmlns:a="http://schemas.openxmlformats.org/drawingml/2006/main">
              <a:ext uri="{FF2B5EF4-FFF2-40B4-BE49-F238E27FC236}">
                <a16:creationId xmlns:a16="http://schemas.microsoft.com/office/drawing/2014/main" id="{8C503653-5622-4811-855C-0078A6126454}"/>
              </a:ext>
            </a:extLst>
          </p:cNvPr>
          <p:cNvSpPr>
            <a:spLocks xmlns:a="http://schemas.openxmlformats.org/drawingml/2006/main" noGrp="1"/>
          </p:cNvSpPr>
          <p:nvPr/>
        </p:nvSpPr>
        <p:spPr>
          <a:xfrm xmlns:a="http://schemas.openxmlformats.org/drawingml/2006/main">
            <a:off x="7905750" y="4762500"/>
            <a:ext cx="857250" cy="857250"/>
          </a:xfrm>
          <a:prstGeom xmlns:a="http://schemas.openxmlformats.org/drawingml/2006/main" prst="ellipse">
            <a:avLst/>
          </a:prstGeom>
          <a:solidFill xmlns:a="http://schemas.openxmlformats.org/drawingml/2006/main">
            <a:srgbClr val="F46B61"/>
          </a:solidFill>
          <a:ln xmlns:a="http://schemas.openxmlformats.org/drawingml/2006/main" w="0">
            <a:noFill/>
            <a:prstDash val="solid"/>
          </a:ln>
        </p:spPr>
      </p:sp>
      <p:sp>
        <p:nvSpPr>
          <p:cNvPr id="12" name="">
            <a:extLst xmlns:a="http://schemas.openxmlformats.org/drawingml/2006/main">
              <a:ext uri="{FF2B5EF4-FFF2-40B4-BE49-F238E27FC236}">
                <a16:creationId xmlns:a16="http://schemas.microsoft.com/office/drawing/2014/main" id="{3C520188-8595-4C87-935D-4E7C72C0D9E1}"/>
              </a:ext>
            </a:extLst>
          </p:cNvPr>
          <p:cNvSpPr>
            <a:spLocks xmlns:a="http://schemas.openxmlformats.org/drawingml/2006/main" noGrp="1"/>
          </p:cNvSpPr>
          <p:nvPr/>
        </p:nvSpPr>
        <p:spPr>
          <a:xfrm xmlns:a="http://schemas.openxmlformats.org/drawingml/2006/main">
            <a:off x="685800" y="6515100"/>
            <a:ext cx="10820400" cy="0"/>
          </a:xfrm>
          <a:prstGeom xmlns:a="http://schemas.openxmlformats.org/drawingml/2006/main" prst="line">
            <a:avLst/>
          </a:prstGeom>
          <a:noFill xmlns:a="http://schemas.openxmlformats.org/drawingml/2006/main"/>
          <a:ln xmlns:a="http://schemas.openxmlformats.org/drawingml/2006/main" w="9525">
            <a:solidFill>
              <a:srgbClr val="284463"/>
            </a:solidFill>
            <a:prstDash val="solid"/>
          </a:ln>
        </p:spPr>
      </p:sp>
      <p:sp>
        <p:nvSpPr>
          <p:cNvPr id="13" name="">
            <a:extLst xmlns:a="http://schemas.openxmlformats.org/drawingml/2006/main">
              <a:ext uri="{FF2B5EF4-FFF2-40B4-BE49-F238E27FC236}">
                <a16:creationId xmlns:a16="http://schemas.microsoft.com/office/drawing/2014/main" id="{BDF72271-FB58-4187-80A6-DA7D24A68D02}"/>
              </a:ext>
            </a:extLst>
          </p:cNvPr>
          <p:cNvSpPr>
            <a:spLocks xmlns:a="http://schemas.openxmlformats.org/drawingml/2006/main" noGrp="1"/>
          </p:cNvSpPr>
          <p:nvPr/>
        </p:nvSpPr>
        <p:spPr>
          <a:xfrm xmlns:a="http://schemas.openxmlformats.org/drawingml/2006/main">
            <a:off x="781050" y="6581775"/>
            <a:ext cx="4286250" cy="1714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p xmlns:a="http://schemas.openxmlformats.org/drawingml/2006/main">
            <a:pPr>
              <a:defRPr sz="900" b="0" i="0">
                <a:solidFill>
                  <a:srgbClr val="BFD0E2"/>
                </a:solidFill>
              </a:defRPr>
            </a:pPr>
            <a:r>
              <a:rPr sz="900" b="0" i="0">
                <a:solidFill>
                  <a:srgbClr val="BFD0E2"/>
                </a:solidFill>
              </a:rPr>
              <a:t>Galaxefi  ·  UN Global Hackathon  ·  3 August 2026</a:t>
            </a:r>
          </a:p>
        </p:txBody>
      </p:sp>
      <p:sp>
        <p:nvSpPr>
          <p:cNvPr id="14" name="">
            <a:extLst xmlns:a="http://schemas.openxmlformats.org/drawingml/2006/main">
              <a:ext uri="{FF2B5EF4-FFF2-40B4-BE49-F238E27FC236}">
                <a16:creationId xmlns:a16="http://schemas.microsoft.com/office/drawing/2014/main" id="{B3188513-9A6D-47A1-A8D6-20C3635B8ED6}"/>
              </a:ext>
            </a:extLst>
          </p:cNvPr>
          <p:cNvSpPr>
            <a:spLocks xmlns:a="http://schemas.openxmlformats.org/drawingml/2006/main" noGrp="1"/>
          </p:cNvSpPr>
          <p:nvPr/>
        </p:nvSpPr>
        <p:spPr>
          <a:xfrm xmlns:a="http://schemas.openxmlformats.org/drawingml/2006/main">
            <a:off x="11106150" y="6553200"/>
            <a:ext cx="419100" cy="2286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p xmlns:a="http://schemas.openxmlformats.org/drawingml/2006/main">
            <a:pPr>
              <a:defRPr sz="900" b="1" i="0">
                <a:solidFill>
                  <a:srgbClr val="28BDD0"/>
                </a:solidFill>
              </a:defRPr>
            </a:pPr>
            <a:r>
              <a:rPr sz="900" b="1" i="0">
                <a:solidFill>
                  <a:srgbClr val="28BDD0"/>
                </a:solidFill>
              </a:rPr>
              <a:t>01</a:t>
            </a:r>
          </a:p>
        </p:txBody>
      </p:sp>
    </p:spTree>
    <p:extLst>
      <p:ext uri="{BB962C8B-B14F-4D97-AF65-F5344CB8AC3E}">
        <p14:creationId xmlns:p14="http://schemas.microsoft.com/office/powerpoint/2010/main" val="2017248716"/>
      </p:ext>
    </p:extLst>
  </p:cSld>
</p:sld>
</file>

<file path=ppt/slides/slide2.xml><?xml version="1.0" encoding="utf-8"?>
<p:sld xmlns:p="http://schemas.openxmlformats.org/presentationml/2006/main">
  <p:cSld>
    <p:bg>
      <p:bgPr>
        <a:solidFill xmlns:a="http://schemas.openxmlformats.org/drawingml/2006/main">
          <a:srgbClr val="F5F8FB"/>
        </a:solidFill>
      </p:bgPr>
    </p:bg>
    <p:spTree>
      <p:nvGrpSpPr>
        <p:cNvPr id="1" name=""/>
        <p:cNvGrpSpPr/>
        <p:nvPr/>
      </p:nvGrpSpPr>
      <p:grpSpPr>
        <a:xfrm xmlns:a="http://schemas.openxmlformats.org/drawingml/2006/main"/>
      </p:grpSpPr>
      <p:sp>
        <p:nvSpPr>
          <p:cNvPr id="23" name="">
            <a:extLst xmlns:a="http://schemas.openxmlformats.org/drawingml/2006/main">
              <a:ext uri="{FF2B5EF4-FFF2-40B4-BE49-F238E27FC236}">
                <a16:creationId xmlns:a16="http://schemas.microsoft.com/office/drawing/2014/main" id="{508AB6EE-1CB0-4671-8E70-0C92C42D4B33}"/>
              </a:ext>
            </a:extLst>
          </p:cNvPr>
          <p:cNvSpPr>
            <a:spLocks xmlns:a="http://schemas.openxmlformats.org/drawingml/2006/main" noGrp="1"/>
          </p:cNvSpPr>
          <p:nvPr/>
        </p:nvSpPr>
        <p:spPr>
          <a:xfrm xmlns:a="http://schemas.openxmlformats.org/drawingml/2006/main">
            <a:off x="781050" y="419100"/>
            <a:ext cx="2381250" cy="2095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p xmlns:a="http://schemas.openxmlformats.org/drawingml/2006/main">
            <a:pPr>
              <a:defRPr sz="1200" b="1" i="0">
                <a:solidFill>
                  <a:srgbClr val="1D78F2"/>
                </a:solidFill>
              </a:defRPr>
            </a:pPr>
            <a:r>
              <a:rPr sz="1200" b="1" i="0">
                <a:solidFill>
                  <a:srgbClr val="1D78F2"/>
                </a:solidFill>
              </a:rPr>
              <a:t>THE JOB</a:t>
            </a:r>
          </a:p>
        </p:txBody>
      </p:sp>
      <p:sp>
        <p:nvSpPr>
          <p:cNvPr id="2" name="">
            <a:extLst xmlns:a="http://schemas.openxmlformats.org/drawingml/2006/main">
              <a:ext uri="{FF2B5EF4-FFF2-40B4-BE49-F238E27FC236}">
                <a16:creationId xmlns:a16="http://schemas.microsoft.com/office/drawing/2014/main" id="{908C8335-FA72-49E5-BAFF-E3CC2A5CC762}"/>
              </a:ext>
            </a:extLst>
          </p:cNvPr>
          <p:cNvSpPr>
            <a:spLocks xmlns:a="http://schemas.openxmlformats.org/drawingml/2006/main" noGrp="1"/>
          </p:cNvSpPr>
          <p:nvPr/>
        </p:nvSpPr>
        <p:spPr>
          <a:xfrm xmlns:a="http://schemas.openxmlformats.org/drawingml/2006/main">
            <a:off x="762000" y="800100"/>
            <a:ext cx="7429500" cy="8763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p xmlns:a="http://schemas.openxmlformats.org/drawingml/2006/main">
            <a:pPr>
              <a:lnSpc>
                <a:spcPct val="95000"/>
              </a:lnSpc>
              <a:buNone/>
              <a:defRPr sz="3000" b="1" i="0">
                <a:solidFill>
                  <a:srgbClr val="102846"/>
                </a:solidFill>
              </a:defRPr>
            </a:pPr>
            <a:r>
              <a:rPr sz="3000" b="1" i="0">
                <a:solidFill>
                  <a:srgbClr val="102846"/>
                </a:solidFill>
              </a:rPr>
              <a:t>The hard part is not finding laws.</a:t>
            </a:r>
          </a:p>
          <a:p xmlns:a="http://schemas.openxmlformats.org/drawingml/2006/main">
            <a:pPr>
              <a:lnSpc>
                <a:spcPct val="95000"/>
              </a:lnSpc>
              <a:buNone/>
              <a:defRPr sz="3000" b="1" i="0">
                <a:solidFill>
                  <a:srgbClr val="102846"/>
                </a:solidFill>
              </a:defRPr>
            </a:pPr>
            <a:r>
              <a:rPr sz="3000" b="1" i="0">
                <a:solidFill>
                  <a:srgbClr val="102846"/>
                </a:solidFill>
              </a:rPr>
              <a:t>It is proving what they say.</a:t>
            </a:r>
          </a:p>
        </p:txBody>
      </p:sp>
      <p:sp>
        <p:nvSpPr>
          <p:cNvPr id="3" name="">
            <a:extLst xmlns:a="http://schemas.openxmlformats.org/drawingml/2006/main">
              <a:ext uri="{FF2B5EF4-FFF2-40B4-BE49-F238E27FC236}">
                <a16:creationId xmlns:a16="http://schemas.microsoft.com/office/drawing/2014/main" id="{0777D720-FEBF-4ED3-8193-3F847811D0D4}"/>
              </a:ext>
            </a:extLst>
          </p:cNvPr>
          <p:cNvSpPr>
            <a:spLocks xmlns:a="http://schemas.openxmlformats.org/drawingml/2006/main" noGrp="1"/>
          </p:cNvSpPr>
          <p:nvPr/>
        </p:nvSpPr>
        <p:spPr>
          <a:xfrm xmlns:a="http://schemas.openxmlformats.org/drawingml/2006/main">
            <a:off x="800100" y="1857375"/>
            <a:ext cx="7905750" cy="3429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p xmlns:a="http://schemas.openxmlformats.org/drawingml/2006/main">
            <a:pPr>
              <a:defRPr sz="1575" b="0" i="0">
                <a:solidFill>
                  <a:srgbClr val="56677A"/>
                </a:solidFill>
              </a:defRPr>
            </a:pPr>
            <a:r>
              <a:rPr sz="1575" b="0" i="0">
                <a:solidFill>
                  <a:srgbClr val="56677A"/>
                </a:solidFill>
              </a:rPr>
              <a:t>RDTII separates discovery from mapping so every output can be traced back to an official source.</a:t>
            </a:r>
          </a:p>
        </p:txBody>
      </p:sp>
      <p:sp>
        <p:nvSpPr>
          <p:cNvPr id="4" name="">
            <a:extLst xmlns:a="http://schemas.openxmlformats.org/drawingml/2006/main">
              <a:ext uri="{FF2B5EF4-FFF2-40B4-BE49-F238E27FC236}">
                <a16:creationId xmlns:a16="http://schemas.microsoft.com/office/drawing/2014/main" id="{F367A201-EEC5-4935-93C4-9B7372CA5CFC}"/>
              </a:ext>
            </a:extLst>
          </p:cNvPr>
          <p:cNvSpPr>
            <a:spLocks xmlns:a="http://schemas.openxmlformats.org/drawingml/2006/main" noGrp="1"/>
          </p:cNvSpPr>
          <p:nvPr/>
        </p:nvSpPr>
        <p:spPr>
          <a:xfrm xmlns:a="http://schemas.openxmlformats.org/drawingml/2006/main">
            <a:off x="800100" y="2933700"/>
            <a:ext cx="2238375" cy="1638300"/>
          </a:xfrm>
          <a:prstGeom xmlns:a="http://schemas.openxmlformats.org/drawingml/2006/main" prst="roundRect">
            <a:avLst>
              <a:gd name="adj" fmla="val 8140"/>
            </a:avLst>
          </a:prstGeom>
          <a:solidFill xmlns:a="http://schemas.openxmlformats.org/drawingml/2006/main">
            <a:srgbClr val="0B2342"/>
          </a:solidFill>
          <a:ln xmlns:a="http://schemas.openxmlformats.org/drawingml/2006/main" w="0">
            <a:noFill/>
            <a:prstDash val="solid"/>
          </a:ln>
        </p:spPr>
      </p:sp>
      <p:sp>
        <p:nvSpPr>
          <p:cNvPr id="5" name="">
            <a:extLst xmlns:a="http://schemas.openxmlformats.org/drawingml/2006/main">
              <a:ext uri="{FF2B5EF4-FFF2-40B4-BE49-F238E27FC236}">
                <a16:creationId xmlns:a16="http://schemas.microsoft.com/office/drawing/2014/main" id="{FC2111D8-CA8C-41BC-932D-78382480C196}"/>
              </a:ext>
            </a:extLst>
          </p:cNvPr>
          <p:cNvSpPr>
            <a:spLocks xmlns:a="http://schemas.openxmlformats.org/drawingml/2006/main" noGrp="1"/>
          </p:cNvSpPr>
          <p:nvPr/>
        </p:nvSpPr>
        <p:spPr>
          <a:xfrm xmlns:a="http://schemas.openxmlformats.org/drawingml/2006/main">
            <a:off x="1028700" y="3162300"/>
            <a:ext cx="495300" cy="2476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p xmlns:a="http://schemas.openxmlformats.org/drawingml/2006/main">
            <a:pPr>
              <a:defRPr sz="1425" b="1" i="0">
                <a:solidFill>
                  <a:srgbClr val="28BDD0"/>
                </a:solidFill>
              </a:defRPr>
            </a:pPr>
            <a:r>
              <a:rPr sz="1425" b="1" i="0">
                <a:solidFill>
                  <a:srgbClr val="28BDD0"/>
                </a:solidFill>
              </a:rPr>
              <a:t>01</a:t>
            </a:r>
          </a:p>
        </p:txBody>
      </p:sp>
      <p:sp>
        <p:nvSpPr>
          <p:cNvPr id="6" name="">
            <a:extLst xmlns:a="http://schemas.openxmlformats.org/drawingml/2006/main">
              <a:ext uri="{FF2B5EF4-FFF2-40B4-BE49-F238E27FC236}">
                <a16:creationId xmlns:a16="http://schemas.microsoft.com/office/drawing/2014/main" id="{79E3F937-00C5-460F-B834-06B27C82A77A}"/>
              </a:ext>
            </a:extLst>
          </p:cNvPr>
          <p:cNvSpPr>
            <a:spLocks xmlns:a="http://schemas.openxmlformats.org/drawingml/2006/main" noGrp="1"/>
          </p:cNvSpPr>
          <p:nvPr/>
        </p:nvSpPr>
        <p:spPr>
          <a:xfrm xmlns:a="http://schemas.openxmlformats.org/drawingml/2006/main">
            <a:off x="1028700" y="3486150"/>
            <a:ext cx="1619250" cy="2857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p xmlns:a="http://schemas.openxmlformats.org/drawingml/2006/main">
            <a:pPr>
              <a:defRPr sz="1950" b="1" i="0">
                <a:solidFill>
                  <a:srgbClr val="FFFFFF"/>
                </a:solidFill>
              </a:defRPr>
            </a:pPr>
            <a:r>
              <a:rPr sz="1950" b="1" i="0">
                <a:solidFill>
                  <a:srgbClr val="FFFFFF"/>
                </a:solidFill>
              </a:rPr>
              <a:t>Discover</a:t>
            </a:r>
          </a:p>
        </p:txBody>
      </p:sp>
      <p:sp>
        <p:nvSpPr>
          <p:cNvPr id="7" name="">
            <a:extLst xmlns:a="http://schemas.openxmlformats.org/drawingml/2006/main">
              <a:ext uri="{FF2B5EF4-FFF2-40B4-BE49-F238E27FC236}">
                <a16:creationId xmlns:a16="http://schemas.microsoft.com/office/drawing/2014/main" id="{272E98EC-C3D8-4EF6-8069-076B86B7B940}"/>
              </a:ext>
            </a:extLst>
          </p:cNvPr>
          <p:cNvSpPr>
            <a:spLocks xmlns:a="http://schemas.openxmlformats.org/drawingml/2006/main" noGrp="1"/>
          </p:cNvSpPr>
          <p:nvPr/>
        </p:nvSpPr>
        <p:spPr>
          <a:xfrm xmlns:a="http://schemas.openxmlformats.org/drawingml/2006/main">
            <a:off x="1028700" y="3867150"/>
            <a:ext cx="1619250" cy="4572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p xmlns:a="http://schemas.openxmlformats.org/drawingml/2006/main">
            <a:pPr>
              <a:defRPr sz="1275" b="0" i="0">
                <a:solidFill>
                  <a:srgbClr val="D9E8F5"/>
                </a:solidFill>
              </a:defRPr>
            </a:pPr>
            <a:r>
              <a:rPr sz="1275" b="0" i="0">
                <a:solidFill>
                  <a:srgbClr val="D9E8F5"/>
                </a:solidFill>
              </a:rPr>
              <a:t>Official portals</a:t>
            </a:r>
          </a:p>
          <a:p xmlns:a="http://schemas.openxmlformats.org/drawingml/2006/main">
            <a:pPr>
              <a:defRPr sz="1275" b="0" i="0">
                <a:solidFill>
                  <a:srgbClr val="D9E8F5"/>
                </a:solidFill>
              </a:defRPr>
            </a:pPr>
            <a:r>
              <a:rPr sz="1275" b="0" i="0">
                <a:solidFill>
                  <a:srgbClr val="D9E8F5"/>
                </a:solidFill>
              </a:rPr>
              <a:t>Rank · exclude</a:t>
            </a:r>
          </a:p>
          <a:p xmlns:a="http://schemas.openxmlformats.org/drawingml/2006/main">
            <a:pPr>
              <a:defRPr sz="1275" b="0" i="0">
                <a:solidFill>
                  <a:srgbClr val="D9E8F5"/>
                </a:solidFill>
              </a:defRPr>
            </a:pPr>
            <a:r>
              <a:rPr sz="1275" b="0" i="0">
                <a:solidFill>
                  <a:srgbClr val="D9E8F5"/>
                </a:solidFill>
              </a:rPr>
              <a:t>KNOWN / NEW</a:t>
            </a:r>
          </a:p>
        </p:txBody>
      </p:sp>
      <p:sp>
        <p:nvSpPr>
          <p:cNvPr id="8" name="">
            <a:extLst xmlns:a="http://schemas.openxmlformats.org/drawingml/2006/main">
              <a:ext uri="{FF2B5EF4-FFF2-40B4-BE49-F238E27FC236}">
                <a16:creationId xmlns:a16="http://schemas.microsoft.com/office/drawing/2014/main" id="{22245898-3631-47F5-B3D9-D42393D62E0C}"/>
              </a:ext>
            </a:extLst>
          </p:cNvPr>
          <p:cNvSpPr>
            <a:spLocks xmlns:a="http://schemas.openxmlformats.org/drawingml/2006/main" noGrp="1"/>
          </p:cNvSpPr>
          <p:nvPr/>
        </p:nvSpPr>
        <p:spPr>
          <a:xfrm xmlns:a="http://schemas.openxmlformats.org/drawingml/2006/main">
            <a:off x="3200400" y="3524250"/>
            <a:ext cx="742950" cy="266700"/>
          </a:xfrm>
          <a:prstGeom xmlns:a="http://schemas.openxmlformats.org/drawingml/2006/main" prst="rightArrow">
            <a:avLst/>
          </a:prstGeom>
          <a:solidFill xmlns:a="http://schemas.openxmlformats.org/drawingml/2006/main">
            <a:srgbClr val="1D78F2"/>
          </a:solidFill>
          <a:ln xmlns:a="http://schemas.openxmlformats.org/drawingml/2006/main" w="0">
            <a:noFill/>
            <a:prstDash val="solid"/>
          </a:ln>
        </p:spPr>
      </p:sp>
      <p:sp>
        <p:nvSpPr>
          <p:cNvPr id="9" name="">
            <a:extLst xmlns:a="http://schemas.openxmlformats.org/drawingml/2006/main">
              <a:ext uri="{FF2B5EF4-FFF2-40B4-BE49-F238E27FC236}">
                <a16:creationId xmlns:a16="http://schemas.microsoft.com/office/drawing/2014/main" id="{F71938BA-6B2F-4265-B17F-E5DAE9F4190D}"/>
              </a:ext>
            </a:extLst>
          </p:cNvPr>
          <p:cNvSpPr>
            <a:spLocks xmlns:a="http://schemas.openxmlformats.org/drawingml/2006/main" noGrp="1"/>
          </p:cNvSpPr>
          <p:nvPr/>
        </p:nvSpPr>
        <p:spPr>
          <a:xfrm xmlns:a="http://schemas.openxmlformats.org/drawingml/2006/main">
            <a:off x="4095750" y="2933700"/>
            <a:ext cx="2238375" cy="1638300"/>
          </a:xfrm>
          <a:prstGeom xmlns:a="http://schemas.openxmlformats.org/drawingml/2006/main" prst="roundRect">
            <a:avLst>
              <a:gd name="adj" fmla="val 8140"/>
            </a:avLst>
          </a:prstGeom>
          <a:solidFill xmlns:a="http://schemas.openxmlformats.org/drawingml/2006/main">
            <a:srgbClr val="FFFFFF"/>
          </a:solidFill>
          <a:ln xmlns:a="http://schemas.openxmlformats.org/drawingml/2006/main" w="9525">
            <a:solidFill>
              <a:srgbClr val="F46B61"/>
            </a:solidFill>
            <a:prstDash val="solid"/>
          </a:ln>
        </p:spPr>
      </p:sp>
      <p:sp>
        <p:nvSpPr>
          <p:cNvPr id="10" name="">
            <a:extLst xmlns:a="http://schemas.openxmlformats.org/drawingml/2006/main">
              <a:ext uri="{FF2B5EF4-FFF2-40B4-BE49-F238E27FC236}">
                <a16:creationId xmlns:a16="http://schemas.microsoft.com/office/drawing/2014/main" id="{17A06FDA-1692-4F23-A15A-DABBCFDFA476}"/>
              </a:ext>
            </a:extLst>
          </p:cNvPr>
          <p:cNvSpPr>
            <a:spLocks xmlns:a="http://schemas.openxmlformats.org/drawingml/2006/main" noGrp="1"/>
          </p:cNvSpPr>
          <p:nvPr/>
        </p:nvSpPr>
        <p:spPr>
          <a:xfrm xmlns:a="http://schemas.openxmlformats.org/drawingml/2006/main">
            <a:off x="4324350" y="3162300"/>
            <a:ext cx="495300" cy="2476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p xmlns:a="http://schemas.openxmlformats.org/drawingml/2006/main">
            <a:pPr>
              <a:defRPr sz="1425" b="1" i="0">
                <a:solidFill>
                  <a:srgbClr val="F46B61"/>
                </a:solidFill>
              </a:defRPr>
            </a:pPr>
            <a:r>
              <a:rPr sz="1425" b="1" i="0">
                <a:solidFill>
                  <a:srgbClr val="F46B61"/>
                </a:solidFill>
              </a:rPr>
              <a:t>02</a:t>
            </a:r>
          </a:p>
        </p:txBody>
      </p:sp>
      <p:sp>
        <p:nvSpPr>
          <p:cNvPr id="11" name="">
            <a:extLst xmlns:a="http://schemas.openxmlformats.org/drawingml/2006/main">
              <a:ext uri="{FF2B5EF4-FFF2-40B4-BE49-F238E27FC236}">
                <a16:creationId xmlns:a16="http://schemas.microsoft.com/office/drawing/2014/main" id="{09D40D96-E050-4750-9328-36D99B62F3FF}"/>
              </a:ext>
            </a:extLst>
          </p:cNvPr>
          <p:cNvSpPr>
            <a:spLocks xmlns:a="http://schemas.openxmlformats.org/drawingml/2006/main" noGrp="1"/>
          </p:cNvSpPr>
          <p:nvPr/>
        </p:nvSpPr>
        <p:spPr>
          <a:xfrm xmlns:a="http://schemas.openxmlformats.org/drawingml/2006/main">
            <a:off x="4324350" y="3486150"/>
            <a:ext cx="1619250" cy="2857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p xmlns:a="http://schemas.openxmlformats.org/drawingml/2006/main">
            <a:pPr>
              <a:defRPr sz="1950" b="1" i="0">
                <a:solidFill>
                  <a:srgbClr val="102846"/>
                </a:solidFill>
              </a:defRPr>
            </a:pPr>
            <a:r>
              <a:rPr sz="1950" b="1" i="0">
                <a:solidFill>
                  <a:srgbClr val="102846"/>
                </a:solidFill>
              </a:rPr>
              <a:t>Map</a:t>
            </a:r>
          </a:p>
        </p:txBody>
      </p:sp>
      <p:sp>
        <p:nvSpPr>
          <p:cNvPr id="12" name="">
            <a:extLst xmlns:a="http://schemas.openxmlformats.org/drawingml/2006/main">
              <a:ext uri="{FF2B5EF4-FFF2-40B4-BE49-F238E27FC236}">
                <a16:creationId xmlns:a16="http://schemas.microsoft.com/office/drawing/2014/main" id="{73F1C5F4-2295-44DC-8C5F-A17ECADA9FB4}"/>
              </a:ext>
            </a:extLst>
          </p:cNvPr>
          <p:cNvSpPr>
            <a:spLocks xmlns:a="http://schemas.openxmlformats.org/drawingml/2006/main" noGrp="1"/>
          </p:cNvSpPr>
          <p:nvPr/>
        </p:nvSpPr>
        <p:spPr>
          <a:xfrm xmlns:a="http://schemas.openxmlformats.org/drawingml/2006/main">
            <a:off x="4324350" y="3867150"/>
            <a:ext cx="1809750" cy="4572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p xmlns:a="http://schemas.openxmlformats.org/drawingml/2006/main">
            <a:pPr>
              <a:defRPr sz="1275" b="0" i="0">
                <a:solidFill>
                  <a:srgbClr val="56677A"/>
                </a:solidFill>
              </a:defRPr>
            </a:pPr>
            <a:r>
              <a:rPr sz="1275" b="0" i="0">
                <a:solidFill>
                  <a:srgbClr val="56677A"/>
                </a:solidFill>
              </a:rPr>
              <a:t>Fetch · OCR</a:t>
            </a:r>
          </a:p>
          <a:p xmlns:a="http://schemas.openxmlformats.org/drawingml/2006/main">
            <a:pPr>
              <a:defRPr sz="1275" b="0" i="0">
                <a:solidFill>
                  <a:srgbClr val="56677A"/>
                </a:solidFill>
              </a:defRPr>
            </a:pPr>
            <a:r>
              <a:rPr sz="1275" b="0" i="0">
                <a:solidFill>
                  <a:srgbClr val="56677A"/>
                </a:solidFill>
              </a:rPr>
              <a:t>Translate · retrieve</a:t>
            </a:r>
          </a:p>
          <a:p xmlns:a="http://schemas.openxmlformats.org/drawingml/2006/main">
            <a:pPr>
              <a:defRPr sz="1275" b="0" i="0">
                <a:solidFill>
                  <a:srgbClr val="56677A"/>
                </a:solidFill>
              </a:defRPr>
            </a:pPr>
            <a:r>
              <a:rPr sz="1275" b="0" i="0">
                <a:solidFill>
                  <a:srgbClr val="56677A"/>
                </a:solidFill>
              </a:rPr>
              <a:t>LLM mapping</a:t>
            </a:r>
          </a:p>
        </p:txBody>
      </p:sp>
      <p:sp>
        <p:nvSpPr>
          <p:cNvPr id="13" name="">
            <a:extLst xmlns:a="http://schemas.openxmlformats.org/drawingml/2006/main">
              <a:ext uri="{FF2B5EF4-FFF2-40B4-BE49-F238E27FC236}">
                <a16:creationId xmlns:a16="http://schemas.microsoft.com/office/drawing/2014/main" id="{A68E0E3B-87E4-4B8F-BC01-023A59091FF2}"/>
              </a:ext>
            </a:extLst>
          </p:cNvPr>
          <p:cNvSpPr>
            <a:spLocks xmlns:a="http://schemas.openxmlformats.org/drawingml/2006/main" noGrp="1"/>
          </p:cNvSpPr>
          <p:nvPr/>
        </p:nvSpPr>
        <p:spPr>
          <a:xfrm xmlns:a="http://schemas.openxmlformats.org/drawingml/2006/main">
            <a:off x="6496050" y="3524250"/>
            <a:ext cx="742950" cy="266700"/>
          </a:xfrm>
          <a:prstGeom xmlns:a="http://schemas.openxmlformats.org/drawingml/2006/main" prst="rightArrow">
            <a:avLst/>
          </a:prstGeom>
          <a:solidFill xmlns:a="http://schemas.openxmlformats.org/drawingml/2006/main">
            <a:srgbClr val="1D78F2"/>
          </a:solidFill>
          <a:ln xmlns:a="http://schemas.openxmlformats.org/drawingml/2006/main" w="0">
            <a:noFill/>
            <a:prstDash val="solid"/>
          </a:ln>
        </p:spPr>
      </p:sp>
      <p:sp>
        <p:nvSpPr>
          <p:cNvPr id="14" name="">
            <a:extLst xmlns:a="http://schemas.openxmlformats.org/drawingml/2006/main">
              <a:ext uri="{FF2B5EF4-FFF2-40B4-BE49-F238E27FC236}">
                <a16:creationId xmlns:a16="http://schemas.microsoft.com/office/drawing/2014/main" id="{9D07E3FF-FE8C-4CAC-9B97-63C90C9FC4DA}"/>
              </a:ext>
            </a:extLst>
          </p:cNvPr>
          <p:cNvSpPr>
            <a:spLocks xmlns:a="http://schemas.openxmlformats.org/drawingml/2006/main" noGrp="1"/>
          </p:cNvSpPr>
          <p:nvPr/>
        </p:nvSpPr>
        <p:spPr>
          <a:xfrm xmlns:a="http://schemas.openxmlformats.org/drawingml/2006/main">
            <a:off x="7391400" y="2933700"/>
            <a:ext cx="2238375" cy="1638300"/>
          </a:xfrm>
          <a:prstGeom xmlns:a="http://schemas.openxmlformats.org/drawingml/2006/main" prst="roundRect">
            <a:avLst>
              <a:gd name="adj" fmla="val 8140"/>
            </a:avLst>
          </a:prstGeom>
          <a:solidFill xmlns:a="http://schemas.openxmlformats.org/drawingml/2006/main">
            <a:srgbClr val="FFFFFF"/>
          </a:solidFill>
          <a:ln xmlns:a="http://schemas.openxmlformats.org/drawingml/2006/main" w="9525">
            <a:solidFill>
              <a:srgbClr val="28BDD0"/>
            </a:solidFill>
            <a:prstDash val="solid"/>
          </a:ln>
        </p:spPr>
      </p:sp>
      <p:sp>
        <p:nvSpPr>
          <p:cNvPr id="15" name="">
            <a:extLst xmlns:a="http://schemas.openxmlformats.org/drawingml/2006/main">
              <a:ext uri="{FF2B5EF4-FFF2-40B4-BE49-F238E27FC236}">
                <a16:creationId xmlns:a16="http://schemas.microsoft.com/office/drawing/2014/main" id="{92489D5A-9FB6-4CEE-8095-7CC7F84E1189}"/>
              </a:ext>
            </a:extLst>
          </p:cNvPr>
          <p:cNvSpPr>
            <a:spLocks xmlns:a="http://schemas.openxmlformats.org/drawingml/2006/main" noGrp="1"/>
          </p:cNvSpPr>
          <p:nvPr/>
        </p:nvSpPr>
        <p:spPr>
          <a:xfrm xmlns:a="http://schemas.openxmlformats.org/drawingml/2006/main">
            <a:off x="7620000" y="3162300"/>
            <a:ext cx="495300" cy="2476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p xmlns:a="http://schemas.openxmlformats.org/drawingml/2006/main">
            <a:pPr>
              <a:defRPr sz="1425" b="1" i="0">
                <a:solidFill>
                  <a:srgbClr val="28BDD0"/>
                </a:solidFill>
              </a:defRPr>
            </a:pPr>
            <a:r>
              <a:rPr sz="1425" b="1" i="0">
                <a:solidFill>
                  <a:srgbClr val="28BDD0"/>
                </a:solidFill>
              </a:rPr>
              <a:t>03</a:t>
            </a:r>
          </a:p>
        </p:txBody>
      </p:sp>
      <p:sp>
        <p:nvSpPr>
          <p:cNvPr id="16" name="">
            <a:extLst xmlns:a="http://schemas.openxmlformats.org/drawingml/2006/main">
              <a:ext uri="{FF2B5EF4-FFF2-40B4-BE49-F238E27FC236}">
                <a16:creationId xmlns:a16="http://schemas.microsoft.com/office/drawing/2014/main" id="{C17B00B6-4332-400B-9943-77392F62C5CB}"/>
              </a:ext>
            </a:extLst>
          </p:cNvPr>
          <p:cNvSpPr>
            <a:spLocks xmlns:a="http://schemas.openxmlformats.org/drawingml/2006/main" noGrp="1"/>
          </p:cNvSpPr>
          <p:nvPr/>
        </p:nvSpPr>
        <p:spPr>
          <a:xfrm xmlns:a="http://schemas.openxmlformats.org/drawingml/2006/main">
            <a:off x="7620000" y="3486150"/>
            <a:ext cx="1714500" cy="2857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p xmlns:a="http://schemas.openxmlformats.org/drawingml/2006/main">
            <a:pPr>
              <a:defRPr sz="1950" b="1" i="0">
                <a:solidFill>
                  <a:srgbClr val="102846"/>
                </a:solidFill>
              </a:defRPr>
            </a:pPr>
            <a:r>
              <a:rPr sz="1950" b="1" i="0">
                <a:solidFill>
                  <a:srgbClr val="102846"/>
                </a:solidFill>
              </a:rPr>
              <a:t>Validate</a:t>
            </a:r>
          </a:p>
        </p:txBody>
      </p:sp>
      <p:sp>
        <p:nvSpPr>
          <p:cNvPr id="17" name="">
            <a:extLst xmlns:a="http://schemas.openxmlformats.org/drawingml/2006/main">
              <a:ext uri="{FF2B5EF4-FFF2-40B4-BE49-F238E27FC236}">
                <a16:creationId xmlns:a16="http://schemas.microsoft.com/office/drawing/2014/main" id="{802AD40B-D8D6-49C2-B437-4EB1FB72FB93}"/>
              </a:ext>
            </a:extLst>
          </p:cNvPr>
          <p:cNvSpPr>
            <a:spLocks xmlns:a="http://schemas.openxmlformats.org/drawingml/2006/main" noGrp="1"/>
          </p:cNvSpPr>
          <p:nvPr/>
        </p:nvSpPr>
        <p:spPr>
          <a:xfrm xmlns:a="http://schemas.openxmlformats.org/drawingml/2006/main">
            <a:off x="7620000" y="3867150"/>
            <a:ext cx="1809750" cy="4572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p xmlns:a="http://schemas.openxmlformats.org/drawingml/2006/main">
            <a:pPr>
              <a:defRPr sz="1275" b="0" i="0">
                <a:solidFill>
                  <a:srgbClr val="56677A"/>
                </a:solidFill>
              </a:defRPr>
            </a:pPr>
            <a:r>
              <a:rPr sz="1275" b="0" i="0">
                <a:solidFill>
                  <a:srgbClr val="56677A"/>
                </a:solidFill>
              </a:rPr>
              <a:t>Exact snippet</a:t>
            </a:r>
          </a:p>
          <a:p xmlns:a="http://schemas.openxmlformats.org/drawingml/2006/main">
            <a:pPr>
              <a:defRPr sz="1275" b="0" i="0">
                <a:solidFill>
                  <a:srgbClr val="56677A"/>
                </a:solidFill>
              </a:defRPr>
            </a:pPr>
            <a:r>
              <a:rPr sz="1275" b="0" i="0">
                <a:solidFill>
                  <a:srgbClr val="56677A"/>
                </a:solidFill>
              </a:rPr>
              <a:t>Confidence · notes</a:t>
            </a:r>
          </a:p>
          <a:p xmlns:a="http://schemas.openxmlformats.org/drawingml/2006/main">
            <a:pPr>
              <a:defRPr sz="1275" b="0" i="0">
                <a:solidFill>
                  <a:srgbClr val="56677A"/>
                </a:solidFill>
              </a:defRPr>
            </a:pPr>
            <a:r>
              <a:rPr sz="1275" b="0" i="0">
                <a:solidFill>
                  <a:srgbClr val="56677A"/>
                </a:solidFill>
              </a:rPr>
              <a:t>CSV / JSON</a:t>
            </a:r>
          </a:p>
        </p:txBody>
      </p:sp>
      <p:sp>
        <p:nvSpPr>
          <p:cNvPr id="18" name="">
            <a:extLst xmlns:a="http://schemas.openxmlformats.org/drawingml/2006/main">
              <a:ext uri="{FF2B5EF4-FFF2-40B4-BE49-F238E27FC236}">
                <a16:creationId xmlns:a16="http://schemas.microsoft.com/office/drawing/2014/main" id="{AEBFB74C-2656-409D-B48B-4992F4FF52C1}"/>
              </a:ext>
            </a:extLst>
          </p:cNvPr>
          <p:cNvSpPr>
            <a:spLocks xmlns:a="http://schemas.openxmlformats.org/drawingml/2006/main" noGrp="1"/>
          </p:cNvSpPr>
          <p:nvPr/>
        </p:nvSpPr>
        <p:spPr>
          <a:xfrm xmlns:a="http://schemas.openxmlformats.org/drawingml/2006/main">
            <a:off x="2152650" y="5143500"/>
            <a:ext cx="7886700" cy="533400"/>
          </a:xfrm>
          <a:prstGeom xmlns:a="http://schemas.openxmlformats.org/drawingml/2006/main" prst="roundRect">
            <a:avLst>
              <a:gd name="adj" fmla="val 21429"/>
            </a:avLst>
          </a:prstGeom>
          <a:solidFill xmlns:a="http://schemas.openxmlformats.org/drawingml/2006/main">
            <a:srgbClr val="DDF5F1"/>
          </a:solidFill>
          <a:ln xmlns:a="http://schemas.openxmlformats.org/drawingml/2006/main" w="9525">
            <a:solidFill>
              <a:srgbClr val="A8E4DC"/>
            </a:solidFill>
            <a:prstDash val="solid"/>
          </a:ln>
        </p:spPr>
      </p:sp>
      <p:sp>
        <p:nvSpPr>
          <p:cNvPr id="19" name="">
            <a:extLst xmlns:a="http://schemas.openxmlformats.org/drawingml/2006/main">
              <a:ext uri="{FF2B5EF4-FFF2-40B4-BE49-F238E27FC236}">
                <a16:creationId xmlns:a16="http://schemas.microsoft.com/office/drawing/2014/main" id="{A1492E5F-D5AD-40C4-B76D-9A903ABD68F5}"/>
              </a:ext>
            </a:extLst>
          </p:cNvPr>
          <p:cNvSpPr>
            <a:spLocks xmlns:a="http://schemas.openxmlformats.org/drawingml/2006/main" noGrp="1"/>
          </p:cNvSpPr>
          <p:nvPr/>
        </p:nvSpPr>
        <p:spPr>
          <a:xfrm xmlns:a="http://schemas.openxmlformats.org/drawingml/2006/main">
            <a:off x="2495550" y="5295900"/>
            <a:ext cx="7239000" cy="2286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p xmlns:a="http://schemas.openxmlformats.org/drawingml/2006/main">
            <a:pPr>
              <a:defRPr sz="1500" b="1" i="0">
                <a:solidFill>
                  <a:srgbClr val="102846"/>
                </a:solidFill>
              </a:defRPr>
            </a:pPr>
            <a:r>
              <a:rPr sz="1500" b="1" i="0">
                <a:solidFill>
                  <a:srgbClr val="102846"/>
                </a:solidFill>
              </a:rPr>
              <a:t>source  →  provision  →  indicator  →  reviewer-ready output</a:t>
            </a:r>
          </a:p>
        </p:txBody>
      </p:sp>
      <p:sp>
        <p:nvSpPr>
          <p:cNvPr id="20" name="">
            <a:extLst xmlns:a="http://schemas.openxmlformats.org/drawingml/2006/main">
              <a:ext uri="{FF2B5EF4-FFF2-40B4-BE49-F238E27FC236}">
                <a16:creationId xmlns:a16="http://schemas.microsoft.com/office/drawing/2014/main" id="{2DEAE5F5-F136-4000-9C8D-894D5362D313}"/>
              </a:ext>
            </a:extLst>
          </p:cNvPr>
          <p:cNvSpPr>
            <a:spLocks xmlns:a="http://schemas.openxmlformats.org/drawingml/2006/main" noGrp="1"/>
          </p:cNvSpPr>
          <p:nvPr/>
        </p:nvSpPr>
        <p:spPr>
          <a:xfrm xmlns:a="http://schemas.openxmlformats.org/drawingml/2006/main">
            <a:off x="685800" y="6515100"/>
            <a:ext cx="10820400" cy="0"/>
          </a:xfrm>
          <a:prstGeom xmlns:a="http://schemas.openxmlformats.org/drawingml/2006/main" prst="line">
            <a:avLst/>
          </a:prstGeom>
          <a:noFill xmlns:a="http://schemas.openxmlformats.org/drawingml/2006/main"/>
          <a:ln xmlns:a="http://schemas.openxmlformats.org/drawingml/2006/main" w="9525">
            <a:solidFill>
              <a:srgbClr val="D7E2EE"/>
            </a:solidFill>
            <a:prstDash val="solid"/>
          </a:ln>
        </p:spPr>
      </p:sp>
      <p:sp>
        <p:nvSpPr>
          <p:cNvPr id="21" name="">
            <a:extLst xmlns:a="http://schemas.openxmlformats.org/drawingml/2006/main">
              <a:ext uri="{FF2B5EF4-FFF2-40B4-BE49-F238E27FC236}">
                <a16:creationId xmlns:a16="http://schemas.microsoft.com/office/drawing/2014/main" id="{5CCE8502-6A9C-479C-8972-E1DA038EAD66}"/>
              </a:ext>
            </a:extLst>
          </p:cNvPr>
          <p:cNvSpPr>
            <a:spLocks xmlns:a="http://schemas.openxmlformats.org/drawingml/2006/main" noGrp="1"/>
          </p:cNvSpPr>
          <p:nvPr/>
        </p:nvSpPr>
        <p:spPr>
          <a:xfrm xmlns:a="http://schemas.openxmlformats.org/drawingml/2006/main">
            <a:off x="781050" y="6581775"/>
            <a:ext cx="4286250" cy="1714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p xmlns:a="http://schemas.openxmlformats.org/drawingml/2006/main">
            <a:pPr>
              <a:defRPr sz="900" b="0" i="0">
                <a:solidFill>
                  <a:srgbClr val="56677A"/>
                </a:solidFill>
              </a:defRPr>
            </a:pPr>
            <a:r>
              <a:rPr sz="900" b="0" i="0">
                <a:solidFill>
                  <a:srgbClr val="56677A"/>
                </a:solidFill>
              </a:rPr>
              <a:t>Galaxefi  ·  UN Global Hackathon  ·  3 August 2026</a:t>
            </a:r>
          </a:p>
        </p:txBody>
      </p:sp>
      <p:sp>
        <p:nvSpPr>
          <p:cNvPr id="22" name="">
            <a:extLst xmlns:a="http://schemas.openxmlformats.org/drawingml/2006/main">
              <a:ext uri="{FF2B5EF4-FFF2-40B4-BE49-F238E27FC236}">
                <a16:creationId xmlns:a16="http://schemas.microsoft.com/office/drawing/2014/main" id="{1DC6941E-95B7-49C7-9817-7A6FFD0E5CD2}"/>
              </a:ext>
            </a:extLst>
          </p:cNvPr>
          <p:cNvSpPr>
            <a:spLocks xmlns:a="http://schemas.openxmlformats.org/drawingml/2006/main" noGrp="1"/>
          </p:cNvSpPr>
          <p:nvPr/>
        </p:nvSpPr>
        <p:spPr>
          <a:xfrm xmlns:a="http://schemas.openxmlformats.org/drawingml/2006/main">
            <a:off x="11106150" y="6553200"/>
            <a:ext cx="419100" cy="2286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p xmlns:a="http://schemas.openxmlformats.org/drawingml/2006/main">
            <a:pPr>
              <a:defRPr sz="900" b="1" i="0">
                <a:solidFill>
                  <a:srgbClr val="1D78F2"/>
                </a:solidFill>
              </a:defRPr>
            </a:pPr>
            <a:r>
              <a:rPr sz="900" b="1" i="0">
                <a:solidFill>
                  <a:srgbClr val="1D78F2"/>
                </a:solidFill>
              </a:rPr>
              <a:t>02</a:t>
            </a:r>
          </a:p>
        </p:txBody>
      </p:sp>
    </p:spTree>
    <p:extLst>
      <p:ext uri="{BB962C8B-B14F-4D97-AF65-F5344CB8AC3E}">
        <p14:creationId xmlns:p14="http://schemas.microsoft.com/office/powerpoint/2010/main" val="148917426"/>
      </p:ext>
    </p:extLst>
  </p:cSld>
</p:sld>
</file>

<file path=ppt/slides/slide3.xml><?xml version="1.0" encoding="utf-8"?>
<p:sld xmlns:p="http://schemas.openxmlformats.org/presentationml/2006/main">
  <p:cSld>
    <p:bg>
      <p:bgPr>
        <a:solidFill xmlns:a="http://schemas.openxmlformats.org/drawingml/2006/main">
          <a:srgbClr val="F5F8FB"/>
        </a:solidFill>
      </p:bgPr>
    </p:bg>
    <p:spTree>
      <p:nvGrpSpPr>
        <p:cNvPr id="1" name=""/>
        <p:cNvGrpSpPr/>
        <p:nvPr/>
      </p:nvGrpSpPr>
      <p:grpSpPr>
        <a:xfrm xmlns:a="http://schemas.openxmlformats.org/drawingml/2006/main"/>
      </p:grpSpPr>
      <p:sp>
        <p:nvSpPr>
          <p:cNvPr id="23" name="">
            <a:extLst xmlns:a="http://schemas.openxmlformats.org/drawingml/2006/main">
              <a:ext uri="{FF2B5EF4-FFF2-40B4-BE49-F238E27FC236}">
                <a16:creationId xmlns:a16="http://schemas.microsoft.com/office/drawing/2014/main" id="{DBAD8B93-DED9-4632-8E49-CCF57C09C5B9}"/>
              </a:ext>
            </a:extLst>
          </p:cNvPr>
          <p:cNvSpPr>
            <a:spLocks xmlns:a="http://schemas.openxmlformats.org/drawingml/2006/main" noGrp="1"/>
          </p:cNvSpPr>
          <p:nvPr/>
        </p:nvSpPr>
        <p:spPr>
          <a:xfrm xmlns:a="http://schemas.openxmlformats.org/drawingml/2006/main">
            <a:off x="781050" y="419100"/>
            <a:ext cx="4000500" cy="2095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p xmlns:a="http://schemas.openxmlformats.org/drawingml/2006/main">
            <a:pPr>
              <a:defRPr sz="1200" b="1" i="0">
                <a:solidFill>
                  <a:srgbClr val="1D78F2"/>
                </a:solidFill>
              </a:defRPr>
            </a:pPr>
            <a:r>
              <a:rPr sz="1200" b="1" i="0">
                <a:solidFill>
                  <a:srgbClr val="1D78F2"/>
                </a:solidFill>
              </a:rPr>
              <a:t>SINGAPORE P7  ·  EVIDENCE DEMO</a:t>
            </a:r>
          </a:p>
        </p:txBody>
      </p:sp>
      <p:sp>
        <p:nvSpPr>
          <p:cNvPr id="2" name="">
            <a:extLst xmlns:a="http://schemas.openxmlformats.org/drawingml/2006/main">
              <a:ext uri="{FF2B5EF4-FFF2-40B4-BE49-F238E27FC236}">
                <a16:creationId xmlns:a16="http://schemas.microsoft.com/office/drawing/2014/main" id="{7D21181D-D97C-461F-AE86-0BD5395ECAD3}"/>
              </a:ext>
            </a:extLst>
          </p:cNvPr>
          <p:cNvSpPr>
            <a:spLocks xmlns:a="http://schemas.openxmlformats.org/drawingml/2006/main" noGrp="1"/>
          </p:cNvSpPr>
          <p:nvPr/>
        </p:nvSpPr>
        <p:spPr>
          <a:xfrm xmlns:a="http://schemas.openxmlformats.org/drawingml/2006/main">
            <a:off x="762000" y="800100"/>
            <a:ext cx="9525000" cy="4572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p xmlns:a="http://schemas.openxmlformats.org/drawingml/2006/main">
            <a:pPr>
              <a:defRPr sz="2850" b="1" i="0">
                <a:solidFill>
                  <a:srgbClr val="102846"/>
                </a:solidFill>
              </a:defRPr>
            </a:pPr>
            <a:r>
              <a:rPr sz="2850" b="1" i="0">
                <a:solidFill>
                  <a:srgbClr val="102846"/>
                </a:solidFill>
              </a:rPr>
              <a:t>One official Act, two traceable RDTII results</a:t>
            </a:r>
          </a:p>
        </p:txBody>
      </p:sp>
      <p:sp>
        <p:nvSpPr>
          <p:cNvPr id="3" name="">
            <a:extLst xmlns:a="http://schemas.openxmlformats.org/drawingml/2006/main">
              <a:ext uri="{FF2B5EF4-FFF2-40B4-BE49-F238E27FC236}">
                <a16:creationId xmlns:a16="http://schemas.microsoft.com/office/drawing/2014/main" id="{71AE2A33-7933-44D5-8470-C36C7E615EA1}"/>
              </a:ext>
            </a:extLst>
          </p:cNvPr>
          <p:cNvSpPr>
            <a:spLocks xmlns:a="http://schemas.openxmlformats.org/drawingml/2006/main" noGrp="1"/>
          </p:cNvSpPr>
          <p:nvPr/>
        </p:nvSpPr>
        <p:spPr>
          <a:xfrm xmlns:a="http://schemas.openxmlformats.org/drawingml/2006/main">
            <a:off x="800100" y="1409700"/>
            <a:ext cx="8572500" cy="3048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p xmlns:a="http://schemas.openxmlformats.org/drawingml/2006/main">
            <a:pPr>
              <a:defRPr sz="1575" b="0" i="0">
                <a:solidFill>
                  <a:srgbClr val="56677A"/>
                </a:solidFill>
              </a:defRPr>
            </a:pPr>
            <a:r>
              <a:rPr sz="1575" b="0" i="0">
                <a:solidFill>
                  <a:srgbClr val="56677A"/>
                </a:solidFill>
              </a:rPr>
              <a:t>The engine preserves the source text while distinguishing new discoveries from known checks.</a:t>
            </a:r>
          </a:p>
        </p:txBody>
      </p:sp>
      <p:sp>
        <p:nvSpPr>
          <p:cNvPr id="4" name="">
            <a:extLst xmlns:a="http://schemas.openxmlformats.org/drawingml/2006/main">
              <a:ext uri="{FF2B5EF4-FFF2-40B4-BE49-F238E27FC236}">
                <a16:creationId xmlns:a16="http://schemas.microsoft.com/office/drawing/2014/main" id="{25AFE90F-5058-4A31-94AF-5C70D0E751C3}"/>
              </a:ext>
            </a:extLst>
          </p:cNvPr>
          <p:cNvSpPr>
            <a:spLocks xmlns:a="http://schemas.openxmlformats.org/drawingml/2006/main" noGrp="1"/>
          </p:cNvSpPr>
          <p:nvPr/>
        </p:nvSpPr>
        <p:spPr>
          <a:xfrm xmlns:a="http://schemas.openxmlformats.org/drawingml/2006/main">
            <a:off x="762000" y="2324100"/>
            <a:ext cx="4686300" cy="2686050"/>
          </a:xfrm>
          <a:prstGeom xmlns:a="http://schemas.openxmlformats.org/drawingml/2006/main" prst="roundRect">
            <a:avLst>
              <a:gd name="adj" fmla="val 4965"/>
            </a:avLst>
          </a:prstGeom>
          <a:solidFill xmlns:a="http://schemas.openxmlformats.org/drawingml/2006/main">
            <a:srgbClr val="0B2342"/>
          </a:solidFill>
          <a:ln xmlns:a="http://schemas.openxmlformats.org/drawingml/2006/main" w="0">
            <a:noFill/>
            <a:prstDash val="solid"/>
          </a:ln>
        </p:spPr>
      </p:sp>
      <p:sp>
        <p:nvSpPr>
          <p:cNvPr id="5" name="">
            <a:extLst xmlns:a="http://schemas.openxmlformats.org/drawingml/2006/main">
              <a:ext uri="{FF2B5EF4-FFF2-40B4-BE49-F238E27FC236}">
                <a16:creationId xmlns:a16="http://schemas.microsoft.com/office/drawing/2014/main" id="{16584F91-0A0E-4C0A-93E8-B681B1D8478E}"/>
              </a:ext>
            </a:extLst>
          </p:cNvPr>
          <p:cNvSpPr>
            <a:spLocks xmlns:a="http://schemas.openxmlformats.org/drawingml/2006/main" noGrp="1"/>
          </p:cNvSpPr>
          <p:nvPr/>
        </p:nvSpPr>
        <p:spPr>
          <a:xfrm xmlns:a="http://schemas.openxmlformats.org/drawingml/2006/main">
            <a:off x="1123950" y="2647950"/>
            <a:ext cx="2095500" cy="2095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p xmlns:a="http://schemas.openxmlformats.org/drawingml/2006/main">
            <a:pPr>
              <a:defRPr sz="1125" b="1" i="0">
                <a:solidFill>
                  <a:srgbClr val="28BDD0"/>
                </a:solidFill>
              </a:defRPr>
            </a:pPr>
            <a:r>
              <a:rPr sz="1125" b="1" i="0">
                <a:solidFill>
                  <a:srgbClr val="28BDD0"/>
                </a:solidFill>
              </a:rPr>
              <a:t>OFFICIAL SOURCE</a:t>
            </a:r>
          </a:p>
        </p:txBody>
      </p:sp>
      <p:sp>
        <p:nvSpPr>
          <p:cNvPr id="6" name="">
            <a:extLst xmlns:a="http://schemas.openxmlformats.org/drawingml/2006/main">
              <a:ext uri="{FF2B5EF4-FFF2-40B4-BE49-F238E27FC236}">
                <a16:creationId xmlns:a16="http://schemas.microsoft.com/office/drawing/2014/main" id="{E797DEBD-0C10-420B-AF2F-243D1DA2733F}"/>
              </a:ext>
            </a:extLst>
          </p:cNvPr>
          <p:cNvSpPr>
            <a:spLocks xmlns:a="http://schemas.openxmlformats.org/drawingml/2006/main" noGrp="1"/>
          </p:cNvSpPr>
          <p:nvPr/>
        </p:nvSpPr>
        <p:spPr>
          <a:xfrm xmlns:a="http://schemas.openxmlformats.org/drawingml/2006/main">
            <a:off x="1123950" y="3048000"/>
            <a:ext cx="3714750" cy="6858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p xmlns:a="http://schemas.openxmlformats.org/drawingml/2006/main">
            <a:pPr>
              <a:lnSpc>
                <a:spcPct val="95000"/>
              </a:lnSpc>
              <a:buNone/>
              <a:defRPr sz="2250" b="1" i="0">
                <a:solidFill>
                  <a:srgbClr val="FFFFFF"/>
                </a:solidFill>
              </a:defRPr>
            </a:pPr>
            <a:r>
              <a:rPr sz="2250" b="1" i="0">
                <a:solidFill>
                  <a:srgbClr val="FFFFFF"/>
                </a:solidFill>
              </a:rPr>
              <a:t>Personal Data</a:t>
            </a:r>
          </a:p>
          <a:p xmlns:a="http://schemas.openxmlformats.org/drawingml/2006/main">
            <a:pPr>
              <a:lnSpc>
                <a:spcPct val="95000"/>
              </a:lnSpc>
              <a:buNone/>
              <a:defRPr sz="2250" b="1" i="0">
                <a:solidFill>
                  <a:srgbClr val="FFFFFF"/>
                </a:solidFill>
              </a:defRPr>
            </a:pPr>
            <a:r>
              <a:rPr sz="2250" b="1" i="0">
                <a:solidFill>
                  <a:srgbClr val="FFFFFF"/>
                </a:solidFill>
              </a:rPr>
              <a:t>Protection Act 2012</a:t>
            </a:r>
          </a:p>
        </p:txBody>
      </p:sp>
      <p:sp>
        <p:nvSpPr>
          <p:cNvPr id="7" name="">
            <a:extLst xmlns:a="http://schemas.openxmlformats.org/drawingml/2006/main">
              <a:ext uri="{FF2B5EF4-FFF2-40B4-BE49-F238E27FC236}">
                <a16:creationId xmlns:a16="http://schemas.microsoft.com/office/drawing/2014/main" id="{3B07B803-9D7D-4E0F-9633-8605F814C557}"/>
              </a:ext>
            </a:extLst>
          </p:cNvPr>
          <p:cNvSpPr>
            <a:spLocks xmlns:a="http://schemas.openxmlformats.org/drawingml/2006/main" noGrp="1"/>
          </p:cNvSpPr>
          <p:nvPr/>
        </p:nvSpPr>
        <p:spPr>
          <a:xfrm xmlns:a="http://schemas.openxmlformats.org/drawingml/2006/main">
            <a:off x="1123950" y="3924300"/>
            <a:ext cx="3429000" cy="3048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p xmlns:a="http://schemas.openxmlformats.org/drawingml/2006/main">
            <a:pPr>
              <a:defRPr sz="1950" b="1" i="0">
                <a:solidFill>
                  <a:srgbClr val="FFFFFF"/>
                </a:solidFill>
              </a:defRPr>
            </a:pPr>
            <a:r>
              <a:rPr sz="1950" b="1" i="0">
                <a:solidFill>
                  <a:srgbClr val="FFFFFF"/>
                </a:solidFill>
              </a:rPr>
              <a:t>Singapore Statutes Online</a:t>
            </a:r>
          </a:p>
        </p:txBody>
      </p:sp>
      <p:sp>
        <p:nvSpPr>
          <p:cNvPr id="8" name="">
            <a:extLst xmlns:a="http://schemas.openxmlformats.org/drawingml/2006/main">
              <a:ext uri="{FF2B5EF4-FFF2-40B4-BE49-F238E27FC236}">
                <a16:creationId xmlns:a16="http://schemas.microsoft.com/office/drawing/2014/main" id="{451FCBD8-CBC3-4BEB-A2F7-8471AC023731}"/>
              </a:ext>
            </a:extLst>
          </p:cNvPr>
          <p:cNvSpPr>
            <a:spLocks xmlns:a="http://schemas.openxmlformats.org/drawingml/2006/main" noGrp="1"/>
          </p:cNvSpPr>
          <p:nvPr/>
        </p:nvSpPr>
        <p:spPr>
          <a:xfrm xmlns:a="http://schemas.openxmlformats.org/drawingml/2006/main">
            <a:off x="1123950" y="4648200"/>
            <a:ext cx="3810000" cy="1905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p xmlns:a="http://schemas.openxmlformats.org/drawingml/2006/main">
            <a:pPr>
              <a:defRPr sz="1200" b="0" i="0">
                <a:solidFill>
                  <a:srgbClr val="D9E8F5"/>
                </a:solidFill>
              </a:defRPr>
            </a:pPr>
            <a:r>
              <a:rPr sz="1200" b="0" i="0">
                <a:solidFill>
                  <a:srgbClr val="D9E8F5"/>
                </a:solidFill>
              </a:rPr>
              <a:t>sso.agc.gov.sg  ·  exact source text retained</a:t>
            </a:r>
          </a:p>
        </p:txBody>
      </p:sp>
      <p:sp>
        <p:nvSpPr>
          <p:cNvPr id="9" name="">
            <a:extLst xmlns:a="http://schemas.openxmlformats.org/drawingml/2006/main">
              <a:ext uri="{FF2B5EF4-FFF2-40B4-BE49-F238E27FC236}">
                <a16:creationId xmlns:a16="http://schemas.microsoft.com/office/drawing/2014/main" id="{64F46B46-D134-4256-A46D-DB8A17EB38DF}"/>
              </a:ext>
            </a:extLst>
          </p:cNvPr>
          <p:cNvSpPr>
            <a:spLocks xmlns:a="http://schemas.openxmlformats.org/drawingml/2006/main" noGrp="1"/>
          </p:cNvSpPr>
          <p:nvPr/>
        </p:nvSpPr>
        <p:spPr>
          <a:xfrm xmlns:a="http://schemas.openxmlformats.org/drawingml/2006/main">
            <a:off x="5734050" y="3486150"/>
            <a:ext cx="609600" cy="266700"/>
          </a:xfrm>
          <a:prstGeom xmlns:a="http://schemas.openxmlformats.org/drawingml/2006/main" prst="rightArrow">
            <a:avLst/>
          </a:prstGeom>
          <a:solidFill xmlns:a="http://schemas.openxmlformats.org/drawingml/2006/main">
            <a:srgbClr val="1D78F2"/>
          </a:solidFill>
          <a:ln xmlns:a="http://schemas.openxmlformats.org/drawingml/2006/main" w="0">
            <a:noFill/>
            <a:prstDash val="solid"/>
          </a:ln>
        </p:spPr>
      </p:sp>
      <p:sp>
        <p:nvSpPr>
          <p:cNvPr id="10" name="">
            <a:extLst xmlns:a="http://schemas.openxmlformats.org/drawingml/2006/main">
              <a:ext uri="{FF2B5EF4-FFF2-40B4-BE49-F238E27FC236}">
                <a16:creationId xmlns:a16="http://schemas.microsoft.com/office/drawing/2014/main" id="{9A47A9E8-CAEC-404B-AC7D-3F36DF3F9363}"/>
              </a:ext>
            </a:extLst>
          </p:cNvPr>
          <p:cNvSpPr>
            <a:spLocks xmlns:a="http://schemas.openxmlformats.org/drawingml/2006/main" noGrp="1"/>
          </p:cNvSpPr>
          <p:nvPr/>
        </p:nvSpPr>
        <p:spPr>
          <a:xfrm xmlns:a="http://schemas.openxmlformats.org/drawingml/2006/main">
            <a:off x="6781800" y="2514600"/>
            <a:ext cx="4438650" cy="952500"/>
          </a:xfrm>
          <a:prstGeom xmlns:a="http://schemas.openxmlformats.org/drawingml/2006/main" prst="roundRect">
            <a:avLst>
              <a:gd name="adj" fmla="val 12000"/>
            </a:avLst>
          </a:prstGeom>
          <a:solidFill xmlns:a="http://schemas.openxmlformats.org/drawingml/2006/main">
            <a:srgbClr val="FFFFFF"/>
          </a:solidFill>
          <a:ln xmlns:a="http://schemas.openxmlformats.org/drawingml/2006/main" w="9525">
            <a:solidFill>
              <a:srgbClr val="D7E2EE"/>
            </a:solidFill>
            <a:prstDash val="solid"/>
          </a:ln>
        </p:spPr>
      </p:sp>
      <p:sp>
        <p:nvSpPr>
          <p:cNvPr id="11" name="">
            <a:extLst xmlns:a="http://schemas.openxmlformats.org/drawingml/2006/main">
              <a:ext uri="{FF2B5EF4-FFF2-40B4-BE49-F238E27FC236}">
                <a16:creationId xmlns:a16="http://schemas.microsoft.com/office/drawing/2014/main" id="{9F17C1CB-B34A-4B13-B9A6-87B225009DE5}"/>
              </a:ext>
            </a:extLst>
          </p:cNvPr>
          <p:cNvSpPr>
            <a:spLocks xmlns:a="http://schemas.openxmlformats.org/drawingml/2006/main" noGrp="1"/>
          </p:cNvSpPr>
          <p:nvPr/>
        </p:nvSpPr>
        <p:spPr>
          <a:xfrm xmlns:a="http://schemas.openxmlformats.org/drawingml/2006/main">
            <a:off x="7029450" y="2724150"/>
            <a:ext cx="914400" cy="285750"/>
          </a:xfrm>
          <a:prstGeom xmlns:a="http://schemas.openxmlformats.org/drawingml/2006/main" prst="roundRect">
            <a:avLst>
              <a:gd name="adj" fmla="val 26667"/>
            </a:avLst>
          </a:prstGeom>
          <a:solidFill xmlns:a="http://schemas.openxmlformats.org/drawingml/2006/main">
            <a:srgbClr val="F46B61"/>
          </a:solidFill>
          <a:ln xmlns:a="http://schemas.openxmlformats.org/drawingml/2006/main" w="0">
            <a:noFill/>
            <a:prstDash val="solid"/>
          </a:ln>
        </p:spPr>
      </p:sp>
      <p:sp>
        <p:nvSpPr>
          <p:cNvPr id="12" name="">
            <a:extLst xmlns:a="http://schemas.openxmlformats.org/drawingml/2006/main">
              <a:ext uri="{FF2B5EF4-FFF2-40B4-BE49-F238E27FC236}">
                <a16:creationId xmlns:a16="http://schemas.microsoft.com/office/drawing/2014/main" id="{B6EE8A75-56A9-4458-95FF-C830D97F5A43}"/>
              </a:ext>
            </a:extLst>
          </p:cNvPr>
          <p:cNvSpPr>
            <a:spLocks xmlns:a="http://schemas.openxmlformats.org/drawingml/2006/main" noGrp="1"/>
          </p:cNvSpPr>
          <p:nvPr/>
        </p:nvSpPr>
        <p:spPr>
          <a:xfrm xmlns:a="http://schemas.openxmlformats.org/drawingml/2006/main">
            <a:off x="7191375" y="2781300"/>
            <a:ext cx="590550" cy="1714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p xmlns:a="http://schemas.openxmlformats.org/drawingml/2006/main">
            <a:pPr>
              <a:defRPr sz="975" b="1" i="0">
                <a:solidFill>
                  <a:srgbClr val="FFFFFF"/>
                </a:solidFill>
              </a:defRPr>
            </a:pPr>
            <a:r>
              <a:rPr sz="975" b="1" i="0">
                <a:solidFill>
                  <a:srgbClr val="FFFFFF"/>
                </a:solidFill>
              </a:rPr>
              <a:t>NEW</a:t>
            </a:r>
          </a:p>
        </p:txBody>
      </p:sp>
      <p:sp>
        <p:nvSpPr>
          <p:cNvPr id="13" name="">
            <a:extLst xmlns:a="http://schemas.openxmlformats.org/drawingml/2006/main">
              <a:ext uri="{FF2B5EF4-FFF2-40B4-BE49-F238E27FC236}">
                <a16:creationId xmlns:a16="http://schemas.microsoft.com/office/drawing/2014/main" id="{68355888-85AF-4A7B-8DD8-29684C283E55}"/>
              </a:ext>
            </a:extLst>
          </p:cNvPr>
          <p:cNvSpPr>
            <a:spLocks xmlns:a="http://schemas.openxmlformats.org/drawingml/2006/main" noGrp="1"/>
          </p:cNvSpPr>
          <p:nvPr/>
        </p:nvSpPr>
        <p:spPr>
          <a:xfrm xmlns:a="http://schemas.openxmlformats.org/drawingml/2006/main">
            <a:off x="8096250" y="2695575"/>
            <a:ext cx="2762250" cy="2286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p xmlns:a="http://schemas.openxmlformats.org/drawingml/2006/main">
            <a:pPr>
              <a:defRPr sz="1425" b="1" i="0">
                <a:solidFill>
                  <a:srgbClr val="102846"/>
                </a:solidFill>
              </a:defRPr>
            </a:pPr>
            <a:r>
              <a:rPr sz="1425" b="1" i="0">
                <a:solidFill>
                  <a:srgbClr val="102846"/>
                </a:solidFill>
              </a:rPr>
              <a:t>P7-I3  ·  Section 50(4)</a:t>
            </a:r>
          </a:p>
        </p:txBody>
      </p:sp>
      <p:sp>
        <p:nvSpPr>
          <p:cNvPr id="14" name="">
            <a:extLst xmlns:a="http://schemas.openxmlformats.org/drawingml/2006/main">
              <a:ext uri="{FF2B5EF4-FFF2-40B4-BE49-F238E27FC236}">
                <a16:creationId xmlns:a16="http://schemas.microsoft.com/office/drawing/2014/main" id="{8FD226AB-0AD1-42F5-95F6-E7AEC3D06D75}"/>
              </a:ext>
            </a:extLst>
          </p:cNvPr>
          <p:cNvSpPr>
            <a:spLocks xmlns:a="http://schemas.openxmlformats.org/drawingml/2006/main" noGrp="1"/>
          </p:cNvSpPr>
          <p:nvPr/>
        </p:nvSpPr>
        <p:spPr>
          <a:xfrm xmlns:a="http://schemas.openxmlformats.org/drawingml/2006/main">
            <a:off x="8096250" y="3009900"/>
            <a:ext cx="2762250" cy="2286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p xmlns:a="http://schemas.openxmlformats.org/drawingml/2006/main">
            <a:pPr>
              <a:defRPr sz="1125" b="0" i="0">
                <a:solidFill>
                  <a:srgbClr val="56677A"/>
                </a:solidFill>
              </a:defRPr>
            </a:pPr>
            <a:r>
              <a:rPr sz="1125" b="0" i="0">
                <a:solidFill>
                  <a:srgbClr val="56677A"/>
                </a:solidFill>
              </a:rPr>
              <a:t>One-year investigation-record retention  ·  confidence 0.92</a:t>
            </a:r>
          </a:p>
        </p:txBody>
      </p:sp>
      <p:sp>
        <p:nvSpPr>
          <p:cNvPr id="15" name="">
            <a:extLst xmlns:a="http://schemas.openxmlformats.org/drawingml/2006/main">
              <a:ext uri="{FF2B5EF4-FFF2-40B4-BE49-F238E27FC236}">
                <a16:creationId xmlns:a16="http://schemas.microsoft.com/office/drawing/2014/main" id="{B4120F27-D886-4787-828E-AC5D38F3172B}"/>
              </a:ext>
            </a:extLst>
          </p:cNvPr>
          <p:cNvSpPr>
            <a:spLocks xmlns:a="http://schemas.openxmlformats.org/drawingml/2006/main" noGrp="1"/>
          </p:cNvSpPr>
          <p:nvPr/>
        </p:nvSpPr>
        <p:spPr>
          <a:xfrm xmlns:a="http://schemas.openxmlformats.org/drawingml/2006/main">
            <a:off x="6781800" y="3752850"/>
            <a:ext cx="4438650" cy="952500"/>
          </a:xfrm>
          <a:prstGeom xmlns:a="http://schemas.openxmlformats.org/drawingml/2006/main" prst="roundRect">
            <a:avLst>
              <a:gd name="adj" fmla="val 12000"/>
            </a:avLst>
          </a:prstGeom>
          <a:solidFill xmlns:a="http://schemas.openxmlformats.org/drawingml/2006/main">
            <a:srgbClr val="FFFFFF"/>
          </a:solidFill>
          <a:ln xmlns:a="http://schemas.openxmlformats.org/drawingml/2006/main" w="9525">
            <a:solidFill>
              <a:srgbClr val="D7E2EE"/>
            </a:solidFill>
            <a:prstDash val="solid"/>
          </a:ln>
        </p:spPr>
      </p:sp>
      <p:sp>
        <p:nvSpPr>
          <p:cNvPr id="16" name="">
            <a:extLst xmlns:a="http://schemas.openxmlformats.org/drawingml/2006/main">
              <a:ext uri="{FF2B5EF4-FFF2-40B4-BE49-F238E27FC236}">
                <a16:creationId xmlns:a16="http://schemas.microsoft.com/office/drawing/2014/main" id="{576D1E35-C500-448A-A1F0-B30D32A484AF}"/>
              </a:ext>
            </a:extLst>
          </p:cNvPr>
          <p:cNvSpPr>
            <a:spLocks xmlns:a="http://schemas.openxmlformats.org/drawingml/2006/main" noGrp="1"/>
          </p:cNvSpPr>
          <p:nvPr/>
        </p:nvSpPr>
        <p:spPr>
          <a:xfrm xmlns:a="http://schemas.openxmlformats.org/drawingml/2006/main">
            <a:off x="7029450" y="3962400"/>
            <a:ext cx="914400" cy="285750"/>
          </a:xfrm>
          <a:prstGeom xmlns:a="http://schemas.openxmlformats.org/drawingml/2006/main" prst="roundRect">
            <a:avLst>
              <a:gd name="adj" fmla="val 26667"/>
            </a:avLst>
          </a:prstGeom>
          <a:solidFill xmlns:a="http://schemas.openxmlformats.org/drawingml/2006/main">
            <a:srgbClr val="28BDD0"/>
          </a:solidFill>
          <a:ln xmlns:a="http://schemas.openxmlformats.org/drawingml/2006/main" w="0">
            <a:noFill/>
            <a:prstDash val="solid"/>
          </a:ln>
        </p:spPr>
      </p:sp>
      <p:sp>
        <p:nvSpPr>
          <p:cNvPr id="17" name="">
            <a:extLst xmlns:a="http://schemas.openxmlformats.org/drawingml/2006/main">
              <a:ext uri="{FF2B5EF4-FFF2-40B4-BE49-F238E27FC236}">
                <a16:creationId xmlns:a16="http://schemas.microsoft.com/office/drawing/2014/main" id="{1EB59582-DA8A-4373-9D1F-556AC566E322}"/>
              </a:ext>
            </a:extLst>
          </p:cNvPr>
          <p:cNvSpPr>
            <a:spLocks xmlns:a="http://schemas.openxmlformats.org/drawingml/2006/main" noGrp="1"/>
          </p:cNvSpPr>
          <p:nvPr/>
        </p:nvSpPr>
        <p:spPr>
          <a:xfrm xmlns:a="http://schemas.openxmlformats.org/drawingml/2006/main">
            <a:off x="7143750" y="4019550"/>
            <a:ext cx="723900" cy="1714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p xmlns:a="http://schemas.openxmlformats.org/drawingml/2006/main">
            <a:pPr>
              <a:defRPr sz="975" b="1" i="0">
                <a:solidFill>
                  <a:srgbClr val="FFFFFF"/>
                </a:solidFill>
              </a:defRPr>
            </a:pPr>
            <a:r>
              <a:rPr sz="975" b="1" i="0">
                <a:solidFill>
                  <a:srgbClr val="FFFFFF"/>
                </a:solidFill>
              </a:rPr>
              <a:t>KNOWN</a:t>
            </a:r>
          </a:p>
        </p:txBody>
      </p:sp>
      <p:sp>
        <p:nvSpPr>
          <p:cNvPr id="18" name="">
            <a:extLst xmlns:a="http://schemas.openxmlformats.org/drawingml/2006/main">
              <a:ext uri="{FF2B5EF4-FFF2-40B4-BE49-F238E27FC236}">
                <a16:creationId xmlns:a16="http://schemas.microsoft.com/office/drawing/2014/main" id="{C36A7E32-7963-4A48-84A3-A6E0CAD9DA8E}"/>
              </a:ext>
            </a:extLst>
          </p:cNvPr>
          <p:cNvSpPr>
            <a:spLocks xmlns:a="http://schemas.openxmlformats.org/drawingml/2006/main" noGrp="1"/>
          </p:cNvSpPr>
          <p:nvPr/>
        </p:nvSpPr>
        <p:spPr>
          <a:xfrm xmlns:a="http://schemas.openxmlformats.org/drawingml/2006/main">
            <a:off x="8096250" y="3933825"/>
            <a:ext cx="2762250" cy="2286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p xmlns:a="http://schemas.openxmlformats.org/drawingml/2006/main">
            <a:pPr>
              <a:defRPr sz="1425" b="1" i="0">
                <a:solidFill>
                  <a:srgbClr val="102846"/>
                </a:solidFill>
              </a:defRPr>
            </a:pPr>
            <a:r>
              <a:rPr sz="1425" b="1" i="0">
                <a:solidFill>
                  <a:srgbClr val="102846"/>
                </a:solidFill>
              </a:rPr>
              <a:t>P7-I4  ·  Section 11(3)</a:t>
            </a:r>
          </a:p>
        </p:txBody>
      </p:sp>
      <p:sp>
        <p:nvSpPr>
          <p:cNvPr id="19" name="">
            <a:extLst xmlns:a="http://schemas.openxmlformats.org/drawingml/2006/main">
              <a:ext uri="{FF2B5EF4-FFF2-40B4-BE49-F238E27FC236}">
                <a16:creationId xmlns:a16="http://schemas.microsoft.com/office/drawing/2014/main" id="{0695D9C8-8A77-4DE9-9103-C437A44AB9D6}"/>
              </a:ext>
            </a:extLst>
          </p:cNvPr>
          <p:cNvSpPr>
            <a:spLocks xmlns:a="http://schemas.openxmlformats.org/drawingml/2006/main" noGrp="1"/>
          </p:cNvSpPr>
          <p:nvPr/>
        </p:nvSpPr>
        <p:spPr>
          <a:xfrm xmlns:a="http://schemas.openxmlformats.org/drawingml/2006/main">
            <a:off x="8096250" y="4248150"/>
            <a:ext cx="2762250" cy="2286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p xmlns:a="http://schemas.openxmlformats.org/drawingml/2006/main">
            <a:pPr>
              <a:defRPr sz="1125" b="0" i="0">
                <a:solidFill>
                  <a:srgbClr val="56677A"/>
                </a:solidFill>
              </a:defRPr>
            </a:pPr>
            <a:r>
              <a:rPr sz="1125" b="0" i="0">
                <a:solidFill>
                  <a:srgbClr val="56677A"/>
                </a:solidFill>
              </a:rPr>
              <a:t>Designated data-protection function  ·  confidence 0.98</a:t>
            </a:r>
          </a:p>
        </p:txBody>
      </p:sp>
      <p:sp>
        <p:nvSpPr>
          <p:cNvPr id="20" name="">
            <a:extLst xmlns:a="http://schemas.openxmlformats.org/drawingml/2006/main">
              <a:ext uri="{FF2B5EF4-FFF2-40B4-BE49-F238E27FC236}">
                <a16:creationId xmlns:a16="http://schemas.microsoft.com/office/drawing/2014/main" id="{754C6A7B-07EA-49A6-AA81-8B6BE09507E1}"/>
              </a:ext>
            </a:extLst>
          </p:cNvPr>
          <p:cNvSpPr>
            <a:spLocks xmlns:a="http://schemas.openxmlformats.org/drawingml/2006/main" noGrp="1"/>
          </p:cNvSpPr>
          <p:nvPr/>
        </p:nvSpPr>
        <p:spPr>
          <a:xfrm xmlns:a="http://schemas.openxmlformats.org/drawingml/2006/main">
            <a:off x="685800" y="6515100"/>
            <a:ext cx="10820400" cy="0"/>
          </a:xfrm>
          <a:prstGeom xmlns:a="http://schemas.openxmlformats.org/drawingml/2006/main" prst="line">
            <a:avLst/>
          </a:prstGeom>
          <a:noFill xmlns:a="http://schemas.openxmlformats.org/drawingml/2006/main"/>
          <a:ln xmlns:a="http://schemas.openxmlformats.org/drawingml/2006/main" w="9525">
            <a:solidFill>
              <a:srgbClr val="D7E2EE"/>
            </a:solidFill>
            <a:prstDash val="solid"/>
          </a:ln>
        </p:spPr>
      </p:sp>
      <p:sp>
        <p:nvSpPr>
          <p:cNvPr id="21" name="">
            <a:extLst xmlns:a="http://schemas.openxmlformats.org/drawingml/2006/main">
              <a:ext uri="{FF2B5EF4-FFF2-40B4-BE49-F238E27FC236}">
                <a16:creationId xmlns:a16="http://schemas.microsoft.com/office/drawing/2014/main" id="{980306E6-D56A-4D53-9DB5-21BE98E7FBE9}"/>
              </a:ext>
            </a:extLst>
          </p:cNvPr>
          <p:cNvSpPr>
            <a:spLocks xmlns:a="http://schemas.openxmlformats.org/drawingml/2006/main" noGrp="1"/>
          </p:cNvSpPr>
          <p:nvPr/>
        </p:nvSpPr>
        <p:spPr>
          <a:xfrm xmlns:a="http://schemas.openxmlformats.org/drawingml/2006/main">
            <a:off x="781050" y="6581775"/>
            <a:ext cx="4286250" cy="1714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p xmlns:a="http://schemas.openxmlformats.org/drawingml/2006/main">
            <a:pPr>
              <a:defRPr sz="900" b="0" i="0">
                <a:solidFill>
                  <a:srgbClr val="56677A"/>
                </a:solidFill>
              </a:defRPr>
            </a:pPr>
            <a:r>
              <a:rPr sz="900" b="0" i="0">
                <a:solidFill>
                  <a:srgbClr val="56677A"/>
                </a:solidFill>
              </a:rPr>
              <a:t>Galaxefi  ·  UN Global Hackathon  ·  3 August 2026</a:t>
            </a:r>
          </a:p>
        </p:txBody>
      </p:sp>
      <p:sp>
        <p:nvSpPr>
          <p:cNvPr id="22" name="">
            <a:extLst xmlns:a="http://schemas.openxmlformats.org/drawingml/2006/main">
              <a:ext uri="{FF2B5EF4-FFF2-40B4-BE49-F238E27FC236}">
                <a16:creationId xmlns:a16="http://schemas.microsoft.com/office/drawing/2014/main" id="{375E2AC8-8480-43D5-952D-50E5E6D996C8}"/>
              </a:ext>
            </a:extLst>
          </p:cNvPr>
          <p:cNvSpPr>
            <a:spLocks xmlns:a="http://schemas.openxmlformats.org/drawingml/2006/main" noGrp="1"/>
          </p:cNvSpPr>
          <p:nvPr/>
        </p:nvSpPr>
        <p:spPr>
          <a:xfrm xmlns:a="http://schemas.openxmlformats.org/drawingml/2006/main">
            <a:off x="11106150" y="6553200"/>
            <a:ext cx="419100" cy="2286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p xmlns:a="http://schemas.openxmlformats.org/drawingml/2006/main">
            <a:pPr>
              <a:defRPr sz="900" b="1" i="0">
                <a:solidFill>
                  <a:srgbClr val="1D78F2"/>
                </a:solidFill>
              </a:defRPr>
            </a:pPr>
            <a:r>
              <a:rPr sz="900" b="1" i="0">
                <a:solidFill>
                  <a:srgbClr val="1D78F2"/>
                </a:solidFill>
              </a:rPr>
              <a:t>03</a:t>
            </a:r>
          </a:p>
        </p:txBody>
      </p:sp>
    </p:spTree>
    <p:extLst>
      <p:ext uri="{BB962C8B-B14F-4D97-AF65-F5344CB8AC3E}">
        <p14:creationId xmlns:p14="http://schemas.microsoft.com/office/powerpoint/2010/main" val="1404072518"/>
      </p:ext>
    </p:extLst>
  </p:cSld>
</p:sld>
</file>

<file path=ppt/slides/slide4.xml><?xml version="1.0" encoding="utf-8"?>
<p:sld xmlns:p="http://schemas.openxmlformats.org/presentationml/2006/main">
  <p:cSld>
    <p:bg>
      <p:bgPr>
        <a:solidFill xmlns:a="http://schemas.openxmlformats.org/drawingml/2006/main">
          <a:srgbClr val="0B2342"/>
        </a:solidFill>
      </p:bgPr>
    </p:bg>
    <p:spTree>
      <p:nvGrpSpPr>
        <p:cNvPr id="1" name=""/>
        <p:cNvGrpSpPr/>
        <p:nvPr/>
      </p:nvGrpSpPr>
      <p:grpSpPr>
        <a:xfrm xmlns:a="http://schemas.openxmlformats.org/drawingml/2006/main"/>
      </p:grpSpPr>
      <p:sp>
        <p:nvSpPr>
          <p:cNvPr id="18" name="">
            <a:extLst xmlns:a="http://schemas.openxmlformats.org/drawingml/2006/main">
              <a:ext uri="{FF2B5EF4-FFF2-40B4-BE49-F238E27FC236}">
                <a16:creationId xmlns:a16="http://schemas.microsoft.com/office/drawing/2014/main" id="{681C569D-CEDD-4EE9-A993-EF5A43524B6B}"/>
              </a:ext>
            </a:extLst>
          </p:cNvPr>
          <p:cNvSpPr>
            <a:spLocks xmlns:a="http://schemas.openxmlformats.org/drawingml/2006/main" noGrp="1"/>
          </p:cNvSpPr>
          <p:nvPr/>
        </p:nvSpPr>
        <p:spPr>
          <a:xfrm xmlns:a="http://schemas.openxmlformats.org/drawingml/2006/main">
            <a:off x="838200" y="742950"/>
            <a:ext cx="2857500" cy="2095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p xmlns:a="http://schemas.openxmlformats.org/drawingml/2006/main">
            <a:pPr>
              <a:defRPr sz="1200" b="1" i="0">
                <a:solidFill>
                  <a:srgbClr val="28BDD0"/>
                </a:solidFill>
              </a:defRPr>
            </a:pPr>
            <a:r>
              <a:rPr sz="1200" b="1" i="0">
                <a:solidFill>
                  <a:srgbClr val="28BDD0"/>
                </a:solidFill>
              </a:rPr>
              <a:t>THE NEXT FRONTIER</a:t>
            </a:r>
          </a:p>
        </p:txBody>
      </p:sp>
      <p:sp>
        <p:nvSpPr>
          <p:cNvPr id="2" name="">
            <a:extLst xmlns:a="http://schemas.openxmlformats.org/drawingml/2006/main">
              <a:ext uri="{FF2B5EF4-FFF2-40B4-BE49-F238E27FC236}">
                <a16:creationId xmlns:a16="http://schemas.microsoft.com/office/drawing/2014/main" id="{E27E5E83-BAB1-4545-A355-3A3BDF579A45}"/>
              </a:ext>
            </a:extLst>
          </p:cNvPr>
          <p:cNvSpPr>
            <a:spLocks xmlns:a="http://schemas.openxmlformats.org/drawingml/2006/main" noGrp="1"/>
          </p:cNvSpPr>
          <p:nvPr/>
        </p:nvSpPr>
        <p:spPr>
          <a:xfrm xmlns:a="http://schemas.openxmlformats.org/drawingml/2006/main">
            <a:off x="819150" y="1257300"/>
            <a:ext cx="9525000" cy="10668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p xmlns:a="http://schemas.openxmlformats.org/drawingml/2006/main">
            <a:pPr>
              <a:lnSpc>
                <a:spcPct val="92000"/>
              </a:lnSpc>
              <a:buNone/>
              <a:defRPr sz="3300" b="1" i="0">
                <a:solidFill>
                  <a:srgbClr val="FFFFFF"/>
                </a:solidFill>
              </a:defRPr>
            </a:pPr>
            <a:r>
              <a:rPr sz="3300" b="1" i="0">
                <a:solidFill>
                  <a:srgbClr val="FFFFFF"/>
                </a:solidFill>
              </a:rPr>
              <a:t>What if a trader could ask:</a:t>
            </a:r>
          </a:p>
          <a:p xmlns:a="http://schemas.openxmlformats.org/drawingml/2006/main">
            <a:pPr>
              <a:lnSpc>
                <a:spcPct val="92000"/>
              </a:lnSpc>
              <a:buNone/>
              <a:defRPr sz="3300" b="1" i="0">
                <a:solidFill>
                  <a:srgbClr val="FFFFFF"/>
                </a:solidFill>
              </a:defRPr>
            </a:pPr>
            <a:r>
              <a:rPr sz="3300" b="1" i="0">
                <a:solidFill>
                  <a:srgbClr val="FFFFFF"/>
                </a:solidFill>
              </a:rPr>
              <a:t>‘Can I ship this from A to B?’</a:t>
            </a:r>
          </a:p>
        </p:txBody>
      </p:sp>
      <p:sp>
        <p:nvSpPr>
          <p:cNvPr id="3" name="">
            <a:extLst xmlns:a="http://schemas.openxmlformats.org/drawingml/2006/main">
              <a:ext uri="{FF2B5EF4-FFF2-40B4-BE49-F238E27FC236}">
                <a16:creationId xmlns:a16="http://schemas.microsoft.com/office/drawing/2014/main" id="{F96B6E2C-081D-4402-9222-8D9938F3DDDD}"/>
              </a:ext>
            </a:extLst>
          </p:cNvPr>
          <p:cNvSpPr>
            <a:spLocks xmlns:a="http://schemas.openxmlformats.org/drawingml/2006/main" noGrp="1"/>
          </p:cNvSpPr>
          <p:nvPr/>
        </p:nvSpPr>
        <p:spPr>
          <a:xfrm xmlns:a="http://schemas.openxmlformats.org/drawingml/2006/main">
            <a:off x="857250" y="2800350"/>
            <a:ext cx="8572500" cy="2857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p xmlns:a="http://schemas.openxmlformats.org/drawingml/2006/main">
            <a:pPr>
              <a:defRPr sz="1575" b="0" i="0">
                <a:solidFill>
                  <a:srgbClr val="D9E8F5"/>
                </a:solidFill>
              </a:defRPr>
            </a:pPr>
            <a:r>
              <a:rPr sz="1575" b="0" i="0">
                <a:solidFill>
                  <a:srgbClr val="D9E8F5"/>
                </a:solidFill>
              </a:rPr>
              <a:t>The same evidence engine can grow into a trade-intelligence layer.</a:t>
            </a:r>
          </a:p>
        </p:txBody>
      </p:sp>
      <p:sp>
        <p:nvSpPr>
          <p:cNvPr id="4" name="">
            <a:extLst xmlns:a="http://schemas.openxmlformats.org/drawingml/2006/main">
              <a:ext uri="{FF2B5EF4-FFF2-40B4-BE49-F238E27FC236}">
                <a16:creationId xmlns:a16="http://schemas.microsoft.com/office/drawing/2014/main" id="{D82FF97B-60AC-493D-BF3C-B08DDB9C500C}"/>
              </a:ext>
            </a:extLst>
          </p:cNvPr>
          <p:cNvSpPr>
            <a:spLocks xmlns:a="http://schemas.openxmlformats.org/drawingml/2006/main" noGrp="1"/>
          </p:cNvSpPr>
          <p:nvPr/>
        </p:nvSpPr>
        <p:spPr>
          <a:xfrm xmlns:a="http://schemas.openxmlformats.org/drawingml/2006/main">
            <a:off x="781050" y="3733800"/>
            <a:ext cx="2857500" cy="1181100"/>
          </a:xfrm>
          <a:prstGeom xmlns:a="http://schemas.openxmlformats.org/drawingml/2006/main" prst="roundRect">
            <a:avLst>
              <a:gd name="adj" fmla="val 9677"/>
            </a:avLst>
          </a:prstGeom>
          <a:solidFill xmlns:a="http://schemas.openxmlformats.org/drawingml/2006/main">
            <a:srgbClr val="1D78F2"/>
          </a:solidFill>
          <a:ln xmlns:a="http://schemas.openxmlformats.org/drawingml/2006/main" w="0">
            <a:noFill/>
            <a:prstDash val="solid"/>
          </a:ln>
        </p:spPr>
      </p:sp>
      <p:sp>
        <p:nvSpPr>
          <p:cNvPr id="5" name="">
            <a:extLst xmlns:a="http://schemas.openxmlformats.org/drawingml/2006/main">
              <a:ext uri="{FF2B5EF4-FFF2-40B4-BE49-F238E27FC236}">
                <a16:creationId xmlns:a16="http://schemas.microsoft.com/office/drawing/2014/main" id="{ABBB16F7-312C-4EDC-A6EA-0E3C06207690}"/>
              </a:ext>
            </a:extLst>
          </p:cNvPr>
          <p:cNvSpPr>
            <a:spLocks xmlns:a="http://schemas.openxmlformats.org/drawingml/2006/main" noGrp="1"/>
          </p:cNvSpPr>
          <p:nvPr/>
        </p:nvSpPr>
        <p:spPr>
          <a:xfrm xmlns:a="http://schemas.openxmlformats.org/drawingml/2006/main">
            <a:off x="1085850" y="3981450"/>
            <a:ext cx="2095500" cy="2095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p xmlns:a="http://schemas.openxmlformats.org/drawingml/2006/main">
            <a:pPr>
              <a:defRPr sz="1350" b="1" i="0">
                <a:solidFill>
                  <a:srgbClr val="FFFFFF"/>
                </a:solidFill>
              </a:defRPr>
            </a:pPr>
            <a:r>
              <a:rPr sz="1350" b="1" i="0">
                <a:solidFill>
                  <a:srgbClr val="FFFFFF"/>
                </a:solidFill>
              </a:rPr>
              <a:t>NOW</a:t>
            </a:r>
          </a:p>
        </p:txBody>
      </p:sp>
      <p:sp>
        <p:nvSpPr>
          <p:cNvPr id="6" name="">
            <a:extLst xmlns:a="http://schemas.openxmlformats.org/drawingml/2006/main">
              <a:ext uri="{FF2B5EF4-FFF2-40B4-BE49-F238E27FC236}">
                <a16:creationId xmlns:a16="http://schemas.microsoft.com/office/drawing/2014/main" id="{890633EE-463A-4633-8404-D5A3DFA8077A}"/>
              </a:ext>
            </a:extLst>
          </p:cNvPr>
          <p:cNvSpPr>
            <a:spLocks xmlns:a="http://schemas.openxmlformats.org/drawingml/2006/main" noGrp="1"/>
          </p:cNvSpPr>
          <p:nvPr/>
        </p:nvSpPr>
        <p:spPr>
          <a:xfrm xmlns:a="http://schemas.openxmlformats.org/drawingml/2006/main">
            <a:off x="1085850" y="4362450"/>
            <a:ext cx="2381250" cy="4381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p xmlns:a="http://schemas.openxmlformats.org/drawingml/2006/main">
            <a:pPr>
              <a:lnSpc>
                <a:spcPct val="90000"/>
              </a:lnSpc>
              <a:buNone/>
              <a:defRPr sz="1275" b="0" i="0">
                <a:solidFill>
                  <a:srgbClr val="FFFFFF"/>
                </a:solidFill>
              </a:defRPr>
            </a:pPr>
            <a:r>
              <a:rPr sz="1275" b="0" i="0">
                <a:solidFill>
                  <a:srgbClr val="FFFFFF"/>
                </a:solidFill>
              </a:rPr>
              <a:t>Multiple pillars</a:t>
            </a:r>
          </a:p>
          <a:p xmlns:a="http://schemas.openxmlformats.org/drawingml/2006/main">
            <a:pPr>
              <a:lnSpc>
                <a:spcPct val="90000"/>
              </a:lnSpc>
              <a:buNone/>
              <a:defRPr sz="1275" b="0" i="0">
                <a:solidFill>
                  <a:srgbClr val="FFFFFF"/>
                </a:solidFill>
              </a:defRPr>
            </a:pPr>
            <a:r>
              <a:rPr sz="1275" b="0" i="0">
                <a:solidFill>
                  <a:srgbClr val="FFFFFF"/>
                </a:solidFill>
              </a:rPr>
              <a:t>Multiple economies</a:t>
            </a:r>
          </a:p>
        </p:txBody>
      </p:sp>
      <p:sp>
        <p:nvSpPr>
          <p:cNvPr id="7" name="">
            <a:extLst xmlns:a="http://schemas.openxmlformats.org/drawingml/2006/main">
              <a:ext uri="{FF2B5EF4-FFF2-40B4-BE49-F238E27FC236}">
                <a16:creationId xmlns:a16="http://schemas.microsoft.com/office/drawing/2014/main" id="{D99804E8-3BC1-4596-86C4-5C41DC3DEFCF}"/>
              </a:ext>
            </a:extLst>
          </p:cNvPr>
          <p:cNvSpPr>
            <a:spLocks xmlns:a="http://schemas.openxmlformats.org/drawingml/2006/main" noGrp="1"/>
          </p:cNvSpPr>
          <p:nvPr/>
        </p:nvSpPr>
        <p:spPr>
          <a:xfrm xmlns:a="http://schemas.openxmlformats.org/drawingml/2006/main">
            <a:off x="4029075" y="3733800"/>
            <a:ext cx="2857500" cy="1181100"/>
          </a:xfrm>
          <a:prstGeom xmlns:a="http://schemas.openxmlformats.org/drawingml/2006/main" prst="roundRect">
            <a:avLst>
              <a:gd name="adj" fmla="val 9677"/>
            </a:avLst>
          </a:prstGeom>
          <a:solidFill xmlns:a="http://schemas.openxmlformats.org/drawingml/2006/main">
            <a:srgbClr val="28BDD0"/>
          </a:solidFill>
          <a:ln xmlns:a="http://schemas.openxmlformats.org/drawingml/2006/main" w="0">
            <a:noFill/>
            <a:prstDash val="solid"/>
          </a:ln>
        </p:spPr>
      </p:sp>
      <p:sp>
        <p:nvSpPr>
          <p:cNvPr id="8" name="">
            <a:extLst xmlns:a="http://schemas.openxmlformats.org/drawingml/2006/main">
              <a:ext uri="{FF2B5EF4-FFF2-40B4-BE49-F238E27FC236}">
                <a16:creationId xmlns:a16="http://schemas.microsoft.com/office/drawing/2014/main" id="{B505F374-34B5-431C-B61F-5A2C72E4FB25}"/>
              </a:ext>
            </a:extLst>
          </p:cNvPr>
          <p:cNvSpPr>
            <a:spLocks xmlns:a="http://schemas.openxmlformats.org/drawingml/2006/main" noGrp="1"/>
          </p:cNvSpPr>
          <p:nvPr/>
        </p:nvSpPr>
        <p:spPr>
          <a:xfrm xmlns:a="http://schemas.openxmlformats.org/drawingml/2006/main">
            <a:off x="4333875" y="3981450"/>
            <a:ext cx="2095500" cy="2095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p xmlns:a="http://schemas.openxmlformats.org/drawingml/2006/main">
            <a:pPr>
              <a:defRPr sz="1350" b="1" i="0">
                <a:solidFill>
                  <a:srgbClr val="FFFFFF"/>
                </a:solidFill>
              </a:defRPr>
            </a:pPr>
            <a:r>
              <a:rPr sz="1350" b="1" i="0">
                <a:solidFill>
                  <a:srgbClr val="FFFFFF"/>
                </a:solidFill>
              </a:rPr>
              <a:t>NEXT</a:t>
            </a:r>
          </a:p>
        </p:txBody>
      </p:sp>
      <p:sp>
        <p:nvSpPr>
          <p:cNvPr id="9" name="">
            <a:extLst xmlns:a="http://schemas.openxmlformats.org/drawingml/2006/main">
              <a:ext uri="{FF2B5EF4-FFF2-40B4-BE49-F238E27FC236}">
                <a16:creationId xmlns:a16="http://schemas.microsoft.com/office/drawing/2014/main" id="{760087FD-2980-45FA-861B-81D03DABB5E5}"/>
              </a:ext>
            </a:extLst>
          </p:cNvPr>
          <p:cNvSpPr>
            <a:spLocks xmlns:a="http://schemas.openxmlformats.org/drawingml/2006/main" noGrp="1"/>
          </p:cNvSpPr>
          <p:nvPr/>
        </p:nvSpPr>
        <p:spPr>
          <a:xfrm xmlns:a="http://schemas.openxmlformats.org/drawingml/2006/main">
            <a:off x="4333875" y="4362450"/>
            <a:ext cx="2381250" cy="4381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p xmlns:a="http://schemas.openxmlformats.org/drawingml/2006/main">
            <a:pPr>
              <a:lnSpc>
                <a:spcPct val="90000"/>
              </a:lnSpc>
              <a:buNone/>
              <a:defRPr sz="1275" b="0" i="0">
                <a:solidFill>
                  <a:srgbClr val="FFFFFF"/>
                </a:solidFill>
              </a:defRPr>
            </a:pPr>
            <a:r>
              <a:rPr sz="1275" b="0" i="0">
                <a:solidFill>
                  <a:srgbClr val="FFFFFF"/>
                </a:solidFill>
              </a:rPr>
              <a:t>HS code</a:t>
            </a:r>
          </a:p>
          <a:p xmlns:a="http://schemas.openxmlformats.org/drawingml/2006/main">
            <a:pPr>
              <a:lnSpc>
                <a:spcPct val="90000"/>
              </a:lnSpc>
              <a:buNone/>
              <a:defRPr sz="1275" b="0" i="0">
                <a:solidFill>
                  <a:srgbClr val="FFFFFF"/>
                </a:solidFill>
              </a:defRPr>
            </a:pPr>
            <a:r>
              <a:rPr sz="1275" b="0" i="0">
                <a:solidFill>
                  <a:srgbClr val="FFFFFF"/>
                </a:solidFill>
              </a:rPr>
              <a:t>Origin + destination</a:t>
            </a:r>
          </a:p>
        </p:txBody>
      </p:sp>
      <p:sp>
        <p:nvSpPr>
          <p:cNvPr id="10" name="">
            <a:extLst xmlns:a="http://schemas.openxmlformats.org/drawingml/2006/main">
              <a:ext uri="{FF2B5EF4-FFF2-40B4-BE49-F238E27FC236}">
                <a16:creationId xmlns:a16="http://schemas.microsoft.com/office/drawing/2014/main" id="{FBF710D8-F937-46D4-8109-DB695499D240}"/>
              </a:ext>
            </a:extLst>
          </p:cNvPr>
          <p:cNvSpPr>
            <a:spLocks xmlns:a="http://schemas.openxmlformats.org/drawingml/2006/main" noGrp="1"/>
          </p:cNvSpPr>
          <p:nvPr/>
        </p:nvSpPr>
        <p:spPr>
          <a:xfrm xmlns:a="http://schemas.openxmlformats.org/drawingml/2006/main">
            <a:off x="7277100" y="3733800"/>
            <a:ext cx="2857500" cy="1181100"/>
          </a:xfrm>
          <a:prstGeom xmlns:a="http://schemas.openxmlformats.org/drawingml/2006/main" prst="roundRect">
            <a:avLst>
              <a:gd name="adj" fmla="val 9677"/>
            </a:avLst>
          </a:prstGeom>
          <a:solidFill xmlns:a="http://schemas.openxmlformats.org/drawingml/2006/main">
            <a:srgbClr val="1D78F2"/>
          </a:solidFill>
          <a:ln xmlns:a="http://schemas.openxmlformats.org/drawingml/2006/main" w="0">
            <a:noFill/>
            <a:prstDash val="solid"/>
          </a:ln>
        </p:spPr>
      </p:sp>
      <p:sp>
        <p:nvSpPr>
          <p:cNvPr id="11" name="">
            <a:extLst xmlns:a="http://schemas.openxmlformats.org/drawingml/2006/main">
              <a:ext uri="{FF2B5EF4-FFF2-40B4-BE49-F238E27FC236}">
                <a16:creationId xmlns:a16="http://schemas.microsoft.com/office/drawing/2014/main" id="{5573EB29-EBC6-4064-A72D-9275E3908D24}"/>
              </a:ext>
            </a:extLst>
          </p:cNvPr>
          <p:cNvSpPr>
            <a:spLocks xmlns:a="http://schemas.openxmlformats.org/drawingml/2006/main" noGrp="1"/>
          </p:cNvSpPr>
          <p:nvPr/>
        </p:nvSpPr>
        <p:spPr>
          <a:xfrm xmlns:a="http://schemas.openxmlformats.org/drawingml/2006/main">
            <a:off x="7581900" y="3981450"/>
            <a:ext cx="2095500" cy="2095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p xmlns:a="http://schemas.openxmlformats.org/drawingml/2006/main">
            <a:pPr>
              <a:defRPr sz="1350" b="1" i="0">
                <a:solidFill>
                  <a:srgbClr val="FFFFFF"/>
                </a:solidFill>
              </a:defRPr>
            </a:pPr>
            <a:r>
              <a:rPr sz="1350" b="1" i="0">
                <a:solidFill>
                  <a:srgbClr val="FFFFFF"/>
                </a:solidFill>
              </a:rPr>
              <a:t>THEN</a:t>
            </a:r>
          </a:p>
        </p:txBody>
      </p:sp>
      <p:sp>
        <p:nvSpPr>
          <p:cNvPr id="12" name="">
            <a:extLst xmlns:a="http://schemas.openxmlformats.org/drawingml/2006/main">
              <a:ext uri="{FF2B5EF4-FFF2-40B4-BE49-F238E27FC236}">
                <a16:creationId xmlns:a16="http://schemas.microsoft.com/office/drawing/2014/main" id="{A5A5C95D-61CF-426F-BC4A-F3BD4A061E6E}"/>
              </a:ext>
            </a:extLst>
          </p:cNvPr>
          <p:cNvSpPr>
            <a:spLocks xmlns:a="http://schemas.openxmlformats.org/drawingml/2006/main" noGrp="1"/>
          </p:cNvSpPr>
          <p:nvPr/>
        </p:nvSpPr>
        <p:spPr>
          <a:xfrm xmlns:a="http://schemas.openxmlformats.org/drawingml/2006/main">
            <a:off x="7581900" y="4362450"/>
            <a:ext cx="2381250" cy="4381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p xmlns:a="http://schemas.openxmlformats.org/drawingml/2006/main">
            <a:pPr>
              <a:lnSpc>
                <a:spcPct val="90000"/>
              </a:lnSpc>
              <a:buNone/>
              <a:defRPr sz="1275" b="0" i="0">
                <a:solidFill>
                  <a:srgbClr val="FFFFFF"/>
                </a:solidFill>
              </a:defRPr>
            </a:pPr>
            <a:r>
              <a:rPr sz="1275" b="0" i="0">
                <a:solidFill>
                  <a:srgbClr val="FFFFFF"/>
                </a:solidFill>
              </a:rPr>
              <a:t>Official laws, regulations</a:t>
            </a:r>
          </a:p>
          <a:p xmlns:a="http://schemas.openxmlformats.org/drawingml/2006/main">
            <a:pPr>
              <a:lnSpc>
                <a:spcPct val="90000"/>
              </a:lnSpc>
              <a:buNone/>
              <a:defRPr sz="1275" b="0" i="0">
                <a:solidFill>
                  <a:srgbClr val="FFFFFF"/>
                </a:solidFill>
              </a:defRPr>
            </a:pPr>
            <a:r>
              <a:rPr sz="1275" b="0" i="0">
                <a:solidFill>
                  <a:srgbClr val="FFFFFF"/>
                </a:solidFill>
              </a:rPr>
              <a:t>and trader steps</a:t>
            </a:r>
          </a:p>
        </p:txBody>
      </p:sp>
      <p:sp>
        <p:nvSpPr>
          <p:cNvPr id="13" name="">
            <a:extLst xmlns:a="http://schemas.openxmlformats.org/drawingml/2006/main">
              <a:ext uri="{FF2B5EF4-FFF2-40B4-BE49-F238E27FC236}">
                <a16:creationId xmlns:a16="http://schemas.microsoft.com/office/drawing/2014/main" id="{E102B046-EF73-423F-AED8-CBE7CE00B2CD}"/>
              </a:ext>
            </a:extLst>
          </p:cNvPr>
          <p:cNvSpPr>
            <a:spLocks xmlns:a="http://schemas.openxmlformats.org/drawingml/2006/main" noGrp="1"/>
          </p:cNvSpPr>
          <p:nvPr/>
        </p:nvSpPr>
        <p:spPr>
          <a:xfrm xmlns:a="http://schemas.openxmlformats.org/drawingml/2006/main">
            <a:off x="857250" y="5581650"/>
            <a:ext cx="7239000" cy="2667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p xmlns:a="http://schemas.openxmlformats.org/drawingml/2006/main">
            <a:pPr>
              <a:defRPr sz="1575" b="1" i="0">
                <a:solidFill>
                  <a:srgbClr val="28BDD0"/>
                </a:solidFill>
              </a:defRPr>
            </a:pPr>
            <a:r>
              <a:rPr sz="1575" b="1" i="0">
                <a:solidFill>
                  <a:srgbClr val="28BDD0"/>
                </a:solidFill>
              </a:rPr>
              <a:t>One engine  →  broader coverage  →  actionable trade guidance</a:t>
            </a:r>
          </a:p>
        </p:txBody>
      </p:sp>
      <p:sp>
        <p:nvSpPr>
          <p:cNvPr id="14" name="">
            <a:extLst xmlns:a="http://schemas.openxmlformats.org/drawingml/2006/main">
              <a:ext uri="{FF2B5EF4-FFF2-40B4-BE49-F238E27FC236}">
                <a16:creationId xmlns:a16="http://schemas.microsoft.com/office/drawing/2014/main" id="{3CAC3B0F-9D66-48AA-8193-7F3800E70B56}"/>
              </a:ext>
            </a:extLst>
          </p:cNvPr>
          <p:cNvSpPr>
            <a:spLocks xmlns:a="http://schemas.openxmlformats.org/drawingml/2006/main" noGrp="1"/>
          </p:cNvSpPr>
          <p:nvPr/>
        </p:nvSpPr>
        <p:spPr>
          <a:xfrm xmlns:a="http://schemas.openxmlformats.org/drawingml/2006/main">
            <a:off x="8896350" y="5543550"/>
            <a:ext cx="2667000" cy="3238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p xmlns:a="http://schemas.openxmlformats.org/drawingml/2006/main">
            <a:pPr>
              <a:defRPr sz="1575" b="1" i="0">
                <a:solidFill>
                  <a:srgbClr val="28BDD0"/>
                </a:solidFill>
              </a:defRPr>
            </a:pPr>
            <a:r>
              <a:rPr sz="1575" b="1" i="0">
                <a:solidFill>
                  <a:srgbClr val="28BDD0"/>
                </a:solidFill>
              </a:rPr>
              <a:t>Built on official sources.</a:t>
            </a:r>
          </a:p>
        </p:txBody>
      </p:sp>
      <p:sp>
        <p:nvSpPr>
          <p:cNvPr id="15" name="">
            <a:extLst xmlns:a="http://schemas.openxmlformats.org/drawingml/2006/main">
              <a:ext uri="{FF2B5EF4-FFF2-40B4-BE49-F238E27FC236}">
                <a16:creationId xmlns:a16="http://schemas.microsoft.com/office/drawing/2014/main" id="{EA048916-E719-46FE-B863-E2BCA87DA7E1}"/>
              </a:ext>
            </a:extLst>
          </p:cNvPr>
          <p:cNvSpPr>
            <a:spLocks xmlns:a="http://schemas.openxmlformats.org/drawingml/2006/main" noGrp="1"/>
          </p:cNvSpPr>
          <p:nvPr/>
        </p:nvSpPr>
        <p:spPr>
          <a:xfrm xmlns:a="http://schemas.openxmlformats.org/drawingml/2006/main">
            <a:off x="685800" y="6515100"/>
            <a:ext cx="10820400" cy="0"/>
          </a:xfrm>
          <a:prstGeom xmlns:a="http://schemas.openxmlformats.org/drawingml/2006/main" prst="line">
            <a:avLst/>
          </a:prstGeom>
          <a:noFill xmlns:a="http://schemas.openxmlformats.org/drawingml/2006/main"/>
          <a:ln xmlns:a="http://schemas.openxmlformats.org/drawingml/2006/main" w="9525">
            <a:solidFill>
              <a:srgbClr val="284463"/>
            </a:solidFill>
            <a:prstDash val="solid"/>
          </a:ln>
        </p:spPr>
      </p:sp>
      <p:sp>
        <p:nvSpPr>
          <p:cNvPr id="16" name="">
            <a:extLst xmlns:a="http://schemas.openxmlformats.org/drawingml/2006/main">
              <a:ext uri="{FF2B5EF4-FFF2-40B4-BE49-F238E27FC236}">
                <a16:creationId xmlns:a16="http://schemas.microsoft.com/office/drawing/2014/main" id="{E025A577-7CAA-40A4-A138-CDB401DF8FF6}"/>
              </a:ext>
            </a:extLst>
          </p:cNvPr>
          <p:cNvSpPr>
            <a:spLocks xmlns:a="http://schemas.openxmlformats.org/drawingml/2006/main" noGrp="1"/>
          </p:cNvSpPr>
          <p:nvPr/>
        </p:nvSpPr>
        <p:spPr>
          <a:xfrm xmlns:a="http://schemas.openxmlformats.org/drawingml/2006/main">
            <a:off x="781050" y="6581775"/>
            <a:ext cx="4286250" cy="1714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p xmlns:a="http://schemas.openxmlformats.org/drawingml/2006/main">
            <a:pPr>
              <a:defRPr sz="900" b="0" i="0">
                <a:solidFill>
                  <a:srgbClr val="BFD0E2"/>
                </a:solidFill>
              </a:defRPr>
            </a:pPr>
            <a:r>
              <a:rPr sz="900" b="0" i="0">
                <a:solidFill>
                  <a:srgbClr val="BFD0E2"/>
                </a:solidFill>
              </a:rPr>
              <a:t>Galaxefi  ·  UN Global Hackathon  ·  3 August 2026</a:t>
            </a:r>
          </a:p>
        </p:txBody>
      </p:sp>
      <p:sp>
        <p:nvSpPr>
          <p:cNvPr id="17" name="">
            <a:extLst xmlns:a="http://schemas.openxmlformats.org/drawingml/2006/main">
              <a:ext uri="{FF2B5EF4-FFF2-40B4-BE49-F238E27FC236}">
                <a16:creationId xmlns:a16="http://schemas.microsoft.com/office/drawing/2014/main" id="{01490814-3197-4623-BD0F-280BE7C1137D}"/>
              </a:ext>
            </a:extLst>
          </p:cNvPr>
          <p:cNvSpPr>
            <a:spLocks xmlns:a="http://schemas.openxmlformats.org/drawingml/2006/main" noGrp="1"/>
          </p:cNvSpPr>
          <p:nvPr/>
        </p:nvSpPr>
        <p:spPr>
          <a:xfrm xmlns:a="http://schemas.openxmlformats.org/drawingml/2006/main">
            <a:off x="11106150" y="6553200"/>
            <a:ext cx="419100" cy="2286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p xmlns:a="http://schemas.openxmlformats.org/drawingml/2006/main">
            <a:pPr>
              <a:defRPr sz="900" b="1" i="0">
                <a:solidFill>
                  <a:srgbClr val="28BDD0"/>
                </a:solidFill>
              </a:defRPr>
            </a:pPr>
            <a:r>
              <a:rPr sz="900" b="1" i="0">
                <a:solidFill>
                  <a:srgbClr val="28BDD0"/>
                </a:solidFill>
              </a:rPr>
              <a:t>04</a:t>
            </a:r>
          </a:p>
        </p:txBody>
      </p:sp>
    </p:spTree>
    <p:extLst>
      <p:ext uri="{BB962C8B-B14F-4D97-AF65-F5344CB8AC3E}">
        <p14:creationId xmlns:p14="http://schemas.microsoft.com/office/powerpoint/2010/main" val="2046126660"/>
      </p:ext>
    </p:extLst>
  </p:cSld>
</p:sld>
</file>

<file path=ppt/theme/theme1.xml><?xml version="1.0" encoding="utf-8"?>
<a:theme xmlns:a="http://schemas.openxmlformats.org/drawingml/2006/main" name="ChatGPT">
  <a:themeElements>
    <a:clrScheme name="ChatGPT">
      <a:dk1>
        <a:srgbClr val="000000"/>
      </a:dk1>
      <a:lt1>
        <a:srgbClr val="FFFFFF"/>
      </a:lt1>
      <a:dk2>
        <a:srgbClr val="0E2841"/>
      </a:dk2>
      <a:lt2>
        <a:srgbClr val="E8E8E8"/>
      </a:lt2>
      <a:accent1>
        <a:srgbClr val="156082"/>
      </a:accent1>
      <a:accent2>
        <a:srgbClr val="E97132"/>
      </a:accent2>
      <a:accent3>
        <a:srgbClr val="196B24"/>
      </a:accent3>
      <a:accent4>
        <a:srgbClr val="0F9ED5"/>
      </a:accent4>
      <a:accent5>
        <a:srgbClr val="A02B93"/>
      </a:accent5>
      <a:accent6>
        <a:srgbClr val="4EA72E"/>
      </a:accent6>
      <a:hlink>
        <a:srgbClr val="467886"/>
      </a:hlink>
      <a:folHlink>
        <a:srgbClr val="96607D"/>
      </a:folHlink>
    </a:clrScheme>
    <a:fontScheme name="Office">
      <a:majorFont>
        <a:latin typeface="Calibri Light"/>
        <a:ea typeface="Calibri Light"/>
        <a:cs typeface="Calibri Light"/>
      </a:majorFont>
      <a:minorFont>
        <a:latin typeface="Calibri"/>
        <a:ea typeface="Calibri"/>
        <a:cs typeface="Calibri"/>
      </a:minorFont>
    </a:fontScheme>
    <a:fmtScheme name="ChatGPT">
      <a:fillStyleLst>
        <a:solidFill>
          <a:schemeClr val="phClr"/>
        </a:solidFill>
        <a:gradFill>
          <a:gsLst>
            <a:gs pos="0">
              <a:schemeClr val="phClr">
                <a:tint val="67000"/>
                <a:lumMod val="110000"/>
                <a:satMod val="105000"/>
              </a:schemeClr>
            </a:gs>
            <a:gs pos="50000">
              <a:schemeClr val="phClr">
                <a:tint val="73000"/>
                <a:lumMod val="105000"/>
                <a:satMod val="103000"/>
              </a:schemeClr>
            </a:gs>
            <a:gs pos="100000">
              <a:schemeClr val="phClr">
                <a:tint val="81000"/>
                <a:lumMod val="105000"/>
                <a:satMod val="109000"/>
              </a:schemeClr>
            </a:gs>
          </a:gsLst>
          <a:lin ang="5400000" scaled="0"/>
        </a:gradFill>
        <a:gradFill>
          <a:gsLst>
            <a:gs pos="0">
              <a:schemeClr val="phClr">
                <a:tint val="94000"/>
                <a:lumMod val="102000"/>
                <a:satMod val="103000"/>
              </a:schemeClr>
            </a:gs>
            <a:gs pos="50000">
              <a:schemeClr val="phClr">
                <a:shade val="100000"/>
                <a:lumMod val="100000"/>
                <a:satMod val="110000"/>
              </a:schemeClr>
            </a:gs>
            <a:gs pos="100000">
              <a:schemeClr val="phClr">
                <a:shade val="78000"/>
                <a:lumMod val="99000"/>
                <a:satMod val="120000"/>
              </a:schemeClr>
            </a:gs>
          </a:gsLst>
          <a:lin ang="5400000" scaled="0"/>
        </a:gradFill>
      </a:fillStyleLst>
      <a:lnStyleLst>
        <a:ln w="12700">
          <a:solidFill>
            <a:schemeClr val="phClr"/>
          </a:solidFill>
          <a:prstDash val="solid"/>
        </a:ln>
        <a:ln w="19050">
          <a:solidFill>
            <a:schemeClr val="phClr"/>
          </a:solidFill>
          <a:prstDash val="solid"/>
        </a:ln>
        <a:ln w="25400">
          <a:solidFill>
            <a:schemeClr val="phClr"/>
          </a:solidFill>
          <a:prstDash val="solid"/>
        </a:ln>
      </a:lnStyleLst>
      <a:effectStyleLst>
        <a:effectStyle>
          <a:effectLst/>
        </a:effectStyle>
        <a:effectStyle>
          <a:effectLst/>
        </a:effectStyle>
        <a:effectStyle>
          <a:effectLst>
            <a:outerShdw blurRad="57150" dist="19050" dir="5400000">
              <a:srgbClr val="000000">
                <a:alpha val="16000"/>
              </a:srgbClr>
            </a:outerShdw>
          </a:effectLst>
        </a:effectStyle>
        <a:effectStyle>
          <a:effectLst>
            <a:outerShdw blurRad="19050" dist="9525" dir="5400000">
              <a:srgbClr val="000000">
                <a:alpha val="6000"/>
              </a:srgbClr>
            </a:outerShdw>
          </a:effectLst>
        </a:effectStyle>
        <a:effectStyle>
          <a:effectLst>
            <a:outerShdw blurRad="28575" dist="9525" dir="5400000">
              <a:srgbClr val="000000">
                <a:alpha val="8000"/>
              </a:srgbClr>
            </a:outerShdw>
          </a:effectLst>
        </a:effectStyle>
        <a:effectStyle>
          <a:effectLst>
            <a:outerShdw blurRad="57150" dist="19050" dir="5400000">
              <a:srgbClr val="000000">
                <a:alpha val="10000"/>
              </a:srgbClr>
            </a:outerShdw>
          </a:effectLst>
        </a:effectStyle>
        <a:effectStyle>
          <a:effectLst>
            <a:outerShdw blurRad="114300" dist="38100" dir="5400000">
              <a:srgbClr val="000000">
                <a:alpha val="12000"/>
              </a:srgbClr>
            </a:outerShdw>
          </a:effectLst>
        </a:effectStyle>
        <a:effectStyle>
          <a:effectLst>
            <a:outerShdw blurRad="171450" dist="57150" dir="5400000">
              <a:srgbClr val="000000">
                <a:alpha val="16000"/>
              </a:srgbClr>
            </a:outerShdw>
          </a:effectLst>
        </a:effectStyle>
        <a:effectStyle>
          <a:effectLst>
            <a:outerShdw blurRad="266700" dist="95250" dir="5400000">
              <a:srgbClr val="000000">
                <a:alpha val="24000"/>
              </a:srgbClr>
            </a:outerShdw>
          </a:effectLst>
        </a:effectStyle>
      </a:effectStyleLst>
      <a:bgFillStyleLst>
        <a:solidFill>
          <a:schemeClr val="phClr"/>
        </a:solidFill>
        <a:solidFill>
          <a:schemeClr val="phClr">
            <a:tint val="95000"/>
            <a:satMod val="170000"/>
          </a:schemeClr>
        </a:solidFill>
        <a:gradFill>
          <a:gsLst>
            <a:gs pos="0">
              <a:schemeClr val="phClr">
                <a:tint val="93000"/>
                <a:shade val="98000"/>
                <a:lumMod val="102000"/>
                <a:satMod val="150000"/>
              </a:schemeClr>
            </a:gs>
            <a:gs pos="50000">
              <a:schemeClr val="phClr">
                <a:tint val="98000"/>
                <a:shade val="90000"/>
                <a:lumMod val="103000"/>
                <a:satMod val="130000"/>
              </a:schemeClr>
            </a:gs>
            <a:gs pos="100000">
              <a:schemeClr val="phClr">
                <a:shade val="63000"/>
                <a:satMod val="120000"/>
              </a:schemeClr>
            </a:gs>
          </a:gsLst>
          <a:lin ang="5400000" scaled="0"/>
        </a:gradFill>
      </a:bgFillStyleLst>
    </a:fmtScheme>
  </a:themeElements>
</a:theme>
</file>

<file path=docProps/app.xml><?xml version="1.0" encoding="utf-8"?>
<ap:Properties xmlns:ap="http://schemas.openxmlformats.org/officeDocument/2006/extended-properties">
  <ap:Application>Walnut Exporter</ap:Application>
  <ap:PresentationFormat>Converted Presentation</ap:PresentationFormat>
  <ap:Slides>0</ap:Slides>
  <ap:Notes>0</ap:Notes>
  <ap:HiddenSlides>0</ap:HiddenSlides>
  <ap:SharedDoc>false</ap:SharedDoc>
  <ap:DocSecurity>0</ap:DocSecurity>
</ap:Properties>
</file>

<file path=docProps/core.xml><?xml version="1.0" encoding="utf-8"?>
<coreProperties xmlns:dc="http://purl.org/dc/elements/1.1/" xmlns:dcterms="http://purl.org/dc/terms/" xmlns:xsi="http://www.w3.org/2001/XMLSchema-instance" xmlns="http://schemas.openxmlformats.org/package/2006/metadata/core-properties">
  <dc:creator>Walnut Exporter</dc:creator>
  <lastModifiedBy>Walnut Exporter</lastModifiedBy>
  <dc:title>Presentation</dc:title>
  <dcterms:created xsi:type="dcterms:W3CDTF">2026-08-02T13:15:04.0570000Z</dcterms:created>
  <dcterms:modified xsi:type="dcterms:W3CDTF">2026-08-02T13:15:04.0570000Z</dcterms:modified>
</coreProperties>
</file>