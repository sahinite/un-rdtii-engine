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18ec5ac1ee4395" /><Relationship Type="http://schemas.openxmlformats.org/officeDocument/2006/relationships/extended-properties" Target="/docProps/app.xml" Id="Rdd7a93171eb946d6" /><Relationship Type="http://schemas.openxmlformats.org/officeDocument/2006/relationships/officeDocument" Target="/ppt/presentation.xml" Id="R41d6e7b5327844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24102f1a044b8f"/>
  </p:sldMasterIdLst>
  <p:notesMasterIdLst>
    <p:notesMasterId xmlns:r="http://schemas.openxmlformats.org/officeDocument/2006/relationships" r:id="Re5cefc057cff42e8"/>
  </p:notesMasterIdLst>
  <p:sldIdLst>
    <p:sldId xmlns:r="http://schemas.openxmlformats.org/officeDocument/2006/relationships" id="256" r:id="Rf640e049684c4e63"/>
    <p:sldId xmlns:r="http://schemas.openxmlformats.org/officeDocument/2006/relationships" id="257" r:id="Re0b146965b114104"/>
    <p:sldId xmlns:r="http://schemas.openxmlformats.org/officeDocument/2006/relationships" id="258" r:id="R366daab327554ae5"/>
    <p:sldId xmlns:r="http://schemas.openxmlformats.org/officeDocument/2006/relationships" id="259" r:id="Rc1134d471db64467"/>
    <p:sldId xmlns:r="http://schemas.openxmlformats.org/officeDocument/2006/relationships" id="260" r:id="R4214aed0258646f8"/>
    <p:sldId xmlns:r="http://schemas.openxmlformats.org/officeDocument/2006/relationships" id="261" r:id="R26c76e5ea58b452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c859fa4b804c1e" /><Relationship Type="http://schemas.openxmlformats.org/officeDocument/2006/relationships/slideMaster" Target="/ppt/slideMasters/slideMaster1.xml" Id="R5c24102f1a044b8f" /><Relationship Type="http://schemas.openxmlformats.org/officeDocument/2006/relationships/notesMaster" Target="/ppt/notesMasters/notesMaster1.xml" Id="Re5cefc057cff42e8" /><Relationship Type="http://schemas.openxmlformats.org/officeDocument/2006/relationships/presProps" Target="/ppt/presProps.xml" Id="R2e796fc2a9594f13" /><Relationship Type="http://schemas.openxmlformats.org/officeDocument/2006/relationships/tableStyles" Target="/ppt/tableStyles.xml" Id="Reabdb7141cca4898" /><Relationship Type="http://schemas.openxmlformats.org/officeDocument/2006/relationships/slide" Target="/ppt/slides/slide1.xml" Id="Rf640e049684c4e63" /><Relationship Type="http://schemas.openxmlformats.org/officeDocument/2006/relationships/slide" Target="/ppt/slides/slide2.xml" Id="Re0b146965b114104" /><Relationship Type="http://schemas.openxmlformats.org/officeDocument/2006/relationships/slide" Target="/ppt/slides/slide3.xml" Id="R366daab327554ae5" /><Relationship Type="http://schemas.openxmlformats.org/officeDocument/2006/relationships/slide" Target="/ppt/slides/slide4.xml" Id="Rc1134d471db64467" /><Relationship Type="http://schemas.openxmlformats.org/officeDocument/2006/relationships/slide" Target="/ppt/slides/slide5.xml" Id="R4214aed0258646f8" /><Relationship Type="http://schemas.openxmlformats.org/officeDocument/2006/relationships/slide" Target="/ppt/slides/slide6.xml" Id="R26c76e5ea58b45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9e34dc211446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ca338513894b2a" /><Relationship Type="http://schemas.openxmlformats.org/officeDocument/2006/relationships/notesMaster" Target="/ppt/notesMasters/notesMaster1.xml" Id="R5abec21e36ab41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84da58190c4414" /><Relationship Type="http://schemas.openxmlformats.org/officeDocument/2006/relationships/notesMaster" Target="/ppt/notesMasters/notesMaster1.xml" Id="R473b9e44e69140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8937281ec9407a" /><Relationship Type="http://schemas.openxmlformats.org/officeDocument/2006/relationships/notesMaster" Target="/ppt/notesMasters/notesMaster1.xml" Id="R95933957059e45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f3ffa9b7374392" /><Relationship Type="http://schemas.openxmlformats.org/officeDocument/2006/relationships/notesMaster" Target="/ppt/notesMasters/notesMaster1.xml" Id="R923a6b3b0f2a46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d25429aff84405" /><Relationship Type="http://schemas.openxmlformats.org/officeDocument/2006/relationships/notesMaster" Target="/ppt/notesMasters/notesMaster1.xml" Id="R1d8c5fa6c20b45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7139aebdf7247d4" /><Relationship Type="http://schemas.openxmlformats.org/officeDocument/2006/relationships/notesMaster" Target="/ppt/notesMasters/notesMaster1.xml" Id="Rfa95d1962b6d49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0:00-0:50. Open with the manual research bottleneck, then state the evidence: 27 of 27 known indicator checks recovered. Say 'known-indicator coverage', not '100% legal accuracy'.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evaluate.py run against outputs/*_2026-07-17*.csv</a:t>
            </a:r>
          </a:p>
          <a:p xmlns:a="http://schemas.openxmlformats.org/drawingml/2006/main">
            <a:r>
              <a:t>- logs/cost_report.json</a:t>
            </a:r>
          </a:p>
          <a:p xmlns:a="http://schemas.openxmlformats.org/drawingml/2006/main">
            <a:r>
              <a:t>- Pitching Rules.pdf, presentation timing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0:50-1:20. Spend no more than 30 seconds: Zone 1 discovers and tags evidence; Zone 2 reads, retrieves, maps, validates, and writes. Do not explain modules.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CONTEXT.md</a:t>
            </a:r>
          </a:p>
          <a:p xmlns:a="http://schemas.openxmlformats.org/drawingml/2006/main">
            <a:r>
              <a:t>- docs/RDTII_Pipeline_Architecture.md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1:20-3:10. Spend about 25 seconds per differentiator. Clarify that eight tiers are supported, while one provider is pinned per run for consistency and auditability.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CONTEXT.md, ADR-021 and LLM providers</a:t>
            </a:r>
          </a:p>
          <a:p xmlns:a="http://schemas.openxmlformats.org/drawingml/2006/main">
            <a:r>
              <a:t>- logs/cost_report.json</a:t>
            </a:r>
          </a:p>
          <a:p xmlns:a="http://schemas.openxmlformats.org/drawingml/2006/main">
            <a:r>
              <a:t>- economies/*.yaml</a:t>
            </a:r>
          </a:p>
          <a:p xmlns:a="http://schemas.openxmlformats.org/drawingml/2006/main">
            <a:r>
              <a:t>- evaluate.py NEW-provision evaluation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3:10-5:30. Show the archived official PDPA text and the two selected output rows: NEW P7-I3 Section 50(4), confidence 0.92; KNOWN P7-I4 Section 11(3), confidence 0.98. The completed online run took 9:37, so show its prepared CSV/JSON rather than starting a full run during the pitch.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outputs/Singapore_P7_2026-08-01T102134.csv</a:t>
            </a:r>
          </a:p>
          <a:p xmlns:a="http://schemas.openxmlformats.org/drawingml/2006/main">
            <a:r>
              <a:t>- outputs/Singapore_P7_2026-08-01T102134.json</a:t>
            </a:r>
          </a:p>
          <a:p xmlns:a="http://schemas.openxmlformats.org/drawingml/2006/main">
            <a:r>
              <a:t>- outputs/archive/Act_PDPA2012_WholeDoc_1.html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5:30-6:40. State the measured results and define them carefully. The six current evaluator runs report 27/27 known indicator checks and 73 NEW candidates. The latest Singapore P7 cost report records $0.430863 in model usage.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evaluate.py outputs for SG/AU/MY P6/P7</a:t>
            </a:r>
          </a:p>
          <a:p xmlns:a="http://schemas.openxmlformats.org/drawingml/2006/main">
            <a:r>
              <a:t>- logs/cost_report.json</a:t>
            </a:r>
          </a:p>
          <a:p xmlns:a="http://schemas.openxmlformats.org/drawingml/2006/main">
            <a:r>
              <a:t>- outputs/Singapore_P7_2026-08-01T102134.csv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6:40-7:25. Deliver the final line: the engine removes the expensive evidence-preparation bottleneck while keeping legal judgment and evidence review visible. Stop by 7:25-7:30.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Pitching Rules.pdf, seven-minute warning and eight-minute mute</a:t>
            </a:r>
          </a:p>
          <a:p xmlns:a="http://schemas.openxmlformats.org/drawingml/2006/main">
            <a:r>
              <a:t>- evaluate.py evaluator outputs</a:t>
            </a:r>
          </a:p>
          <a:p xmlns:a="http://schemas.openxmlformats.org/drawingml/2006/main">
            <a:r>
              <a:t>- logs/cost_report.json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fd44521d774e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48885d64254d29" /><Relationship Type="http://schemas.openxmlformats.org/officeDocument/2006/relationships/slideLayout" Target="/ppt/slideLayouts/slideLayout1.xml" Id="Rc0dfeca8ad7f4e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dfeca8ad7f4e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575a79377343c6" /><Relationship Type="http://schemas.openxmlformats.org/officeDocument/2006/relationships/notesSlide" Target="/ppt/notesSlides/notesSlide1.xml" Id="R81c1c61e246e4e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32155809ee4d4f" /><Relationship Type="http://schemas.openxmlformats.org/officeDocument/2006/relationships/notesSlide" Target="/ppt/notesSlides/notesSlide2.xml" Id="Ra2b2fe3a00dc4e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e49b87908e4fd1" /><Relationship Type="http://schemas.openxmlformats.org/officeDocument/2006/relationships/notesSlide" Target="/ppt/notesSlides/notesSlide3.xml" Id="R09767b9684b94d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a1386a63ec4ec6" /><Relationship Type="http://schemas.openxmlformats.org/officeDocument/2006/relationships/notesSlide" Target="/ppt/notesSlides/notesSlide4.xml" Id="R06054aaaefde41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c529954b8747cd" /><Relationship Type="http://schemas.openxmlformats.org/officeDocument/2006/relationships/notesSlide" Target="/ppt/notesSlides/notesSlide5.xml" Id="R9dca87ef895547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f32ae29fb9459b" /><Relationship Type="http://schemas.openxmlformats.org/officeDocument/2006/relationships/notesSlide" Target="/ppt/notesSlides/notesSlide6.xml" Id="R93ebe3ebba8744c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EEA8B01-A4C2-4525-A8C6-4B3B9998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B1F3A"/>
            </a:solidFill>
            <a:prstDash val="solid"/>
          </a:ln>
        </p:spPr>
      </p:sp>
      <p:sp>
        <p:nvSpPr>
          <p:cNvPr id="2" name="orb-blue">
            <a:extLst xmlns:a="http://schemas.openxmlformats.org/drawingml/2006/main">
              <a:ext uri="{FF2B5EF4-FFF2-40B4-BE49-F238E27FC236}">
                <a16:creationId xmlns:a16="http://schemas.microsoft.com/office/drawing/2014/main" id="{8C38B3B6-4089-43FD-96B1-694F55FC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9FF"/>
          </a:solidFill>
          <a:ln xmlns:a="http://schemas.openxmlformats.org/drawingml/2006/main" w="0">
            <a:solidFill>
              <a:srgbClr val="1479FF"/>
            </a:solidFill>
            <a:prstDash val="solid"/>
          </a:ln>
        </p:spPr>
      </p:sp>
      <p:sp>
        <p:nvSpPr>
          <p:cNvPr id="3" name="orb-cyan">
            <a:extLst xmlns:a="http://schemas.openxmlformats.org/drawingml/2006/main">
              <a:ext uri="{FF2B5EF4-FFF2-40B4-BE49-F238E27FC236}">
                <a16:creationId xmlns:a16="http://schemas.microsoft.com/office/drawing/2014/main" id="{5CE7CAF3-9443-48BF-BBF5-30711C1E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333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7D9"/>
          </a:solidFill>
          <a:ln xmlns:a="http://schemas.openxmlformats.org/drawingml/2006/main" w="0">
            <a:solidFill>
              <a:srgbClr val="22C7D9"/>
            </a:solidFill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590C305A-28BF-406A-AB27-3FBEC006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858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2C7D9"/>
                </a:solidFill>
              </a:defRPr>
            </a:pPr>
            <a:r>
              <a:rPr sz="1200" b="1">
                <a:solidFill>
                  <a:srgbClr val="22C7D9"/>
                </a:solidFill>
              </a:rPr>
              <a:t>RDTII EXTRACTION ENGINE · LIVE PITCH</a:t>
            </a:r>
          </a:p>
        </p:txBody>
      </p:sp>
      <p:sp>
        <p:nvSpPr>
          <p:cNvPr id="5" name="hero-number">
            <a:extLst xmlns:a="http://schemas.openxmlformats.org/drawingml/2006/main">
              <a:ext uri="{FF2B5EF4-FFF2-40B4-BE49-F238E27FC236}">
                <a16:creationId xmlns:a16="http://schemas.microsoft.com/office/drawing/2014/main" id="{91D79ADD-4B94-4F64-926E-6B17E888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27 / 27</a:t>
            </a:r>
          </a:p>
        </p:txBody>
      </p:sp>
      <p:sp>
        <p:nvSpPr>
          <p:cNvPr id="6" name="hero-title">
            <a:extLst xmlns:a="http://schemas.openxmlformats.org/drawingml/2006/main">
              <a:ext uri="{FF2B5EF4-FFF2-40B4-BE49-F238E27FC236}">
                <a16:creationId xmlns:a16="http://schemas.microsoft.com/office/drawing/2014/main" id="{7DA3F1D7-53DE-4848-84F2-51910B40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known indicator checks recovered</a:t>
            </a:r>
          </a:p>
        </p:txBody>
      </p:sp>
      <p:sp>
        <p:nvSpPr>
          <p:cNvPr id="7" name="hero-subtitle">
            <a:extLst xmlns:a="http://schemas.openxmlformats.org/drawingml/2006/main">
              <a:ext uri="{FF2B5EF4-FFF2-40B4-BE49-F238E27FC236}">
                <a16:creationId xmlns:a16="http://schemas.microsoft.com/office/drawing/2014/main" id="{19C5E5B1-4D57-4EEC-84E5-100AA34A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666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D9F3FF"/>
                </a:solidFill>
              </a:defRPr>
            </a:pPr>
            <a:r>
              <a:rPr sz="1650">
                <a:solidFill>
                  <a:srgbClr val="D9F3FF"/>
                </a:solidFill>
              </a:rPr>
              <a:t>Across six Singapore, Australia, and Malaysia runs against the Round 1 reference set.</a:t>
            </a:r>
          </a:p>
        </p:txBody>
      </p:sp>
      <p:sp>
        <p:nvSpPr>
          <p:cNvPr id="8" name="hero-callout">
            <a:extLst xmlns:a="http://schemas.openxmlformats.org/drawingml/2006/main">
              <a:ext uri="{FF2B5EF4-FFF2-40B4-BE49-F238E27FC236}">
                <a16:creationId xmlns:a16="http://schemas.microsoft.com/office/drawing/2014/main" id="{8991590E-83D8-4E22-9784-943BFA2D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4762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2345B"/>
          </a:solidFill>
          <a:ln xmlns:a="http://schemas.openxmlformats.org/drawingml/2006/main" w="9525">
            <a:solidFill>
              <a:srgbClr val="2F5E91"/>
            </a:solidFill>
            <a:prstDash val="solid"/>
          </a:ln>
        </p:spPr>
      </p:sp>
      <p:sp>
        <p:nvSpPr>
          <p:cNvPr id="9" name="hero-callout-text">
            <a:extLst xmlns:a="http://schemas.openxmlformats.org/drawingml/2006/main">
              <a:ext uri="{FF2B5EF4-FFF2-40B4-BE49-F238E27FC236}">
                <a16:creationId xmlns:a16="http://schemas.microsoft.com/office/drawing/2014/main" id="{2425FEB7-27F1-4085-AA1F-A82771CD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91050"/>
            <a:ext cx="4267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$0.43 recorded Singapore P7 model cost</a:t>
            </a:r>
          </a:p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Source → provision → RDTII output</a:t>
            </a:r>
          </a:p>
        </p:txBody>
      </p:sp>
      <p:sp>
        <p:nvSpPr>
          <p:cNvPr id="10" name="date">
            <a:extLst xmlns:a="http://schemas.openxmlformats.org/drawingml/2006/main">
              <a:ext uri="{FF2B5EF4-FFF2-40B4-BE49-F238E27FC236}">
                <a16:creationId xmlns:a16="http://schemas.microsoft.com/office/drawing/2014/main" id="{BB77030F-482F-4993-B6DA-C5147939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8D7F2"/>
                </a:solidFill>
              </a:defRPr>
            </a:pPr>
            <a:r>
              <a:rPr sz="1050">
                <a:solidFill>
                  <a:srgbClr val="B8D7F2"/>
                </a:solidFill>
              </a:rPr>
              <a:t>Galaxefi  |  3 August 2026</a:t>
            </a:r>
          </a:p>
        </p:txBody>
      </p:sp>
    </p:spTree>
    <p:extLst>
      <p:ext uri="{BB962C8B-B14F-4D97-AF65-F5344CB8AC3E}">
        <p14:creationId xmlns:p14="http://schemas.microsoft.com/office/powerpoint/2010/main" val="4690965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">
            <a:extLst xmlns:a="http://schemas.openxmlformats.org/drawingml/2006/main">
              <a:ext uri="{FF2B5EF4-FFF2-40B4-BE49-F238E27FC236}">
                <a16:creationId xmlns:a16="http://schemas.microsoft.com/office/drawing/2014/main" id="{630FF5FB-2074-4E5E-BAAE-6557FFDA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79FF"/>
                </a:solidFill>
              </a:defRPr>
            </a:pPr>
            <a:r>
              <a:rPr sz="1050" b="1">
                <a:solidFill>
                  <a:srgbClr val="1479FF"/>
                </a:solidFill>
              </a:rPr>
              <a:t>ARCHITECTURE IN 30 SECONDS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88DF77E-7EDE-49A5-A349-639BCB78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Two zones turn scattered laws into auditable evidence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485141A9-1882-4283-88B9-0B9C5452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716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The architecture separates evidence discovery from legal mapping and output validation.</a:t>
            </a:r>
          </a:p>
        </p:txBody>
      </p:sp>
      <p:sp>
        <p:nvSpPr>
          <p:cNvPr id="4" name="input">
            <a:extLst xmlns:a="http://schemas.openxmlformats.org/drawingml/2006/main">
              <a:ext uri="{FF2B5EF4-FFF2-40B4-BE49-F238E27FC236}">
                <a16:creationId xmlns:a16="http://schemas.microsoft.com/office/drawing/2014/main" id="{37C38D08-2CA4-4BAF-8E44-1EDE3C02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Economy + pillar</a:t>
            </a:r>
          </a:p>
        </p:txBody>
      </p:sp>
      <p:sp>
        <p:nvSpPr>
          <p:cNvPr id="5" name="input-arrow">
            <a:extLst xmlns:a="http://schemas.openxmlformats.org/drawingml/2006/main">
              <a:ext uri="{FF2B5EF4-FFF2-40B4-BE49-F238E27FC236}">
                <a16:creationId xmlns:a16="http://schemas.microsoft.com/office/drawing/2014/main" id="{0FCEFEF8-4C71-4E3F-BAB6-6FCCBD09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990850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479FF"/>
                </a:solidFill>
              </a:defRPr>
            </a:pPr>
            <a:r>
              <a:rPr sz="2850" b="1">
                <a:solidFill>
                  <a:srgbClr val="1479FF"/>
                </a:solidFill>
              </a:rPr>
              <a:t>→</a:t>
            </a:r>
          </a:p>
        </p:txBody>
      </p:sp>
      <p:sp>
        <p:nvSpPr>
          <p:cNvPr id="6" name="zone1">
            <a:extLst xmlns:a="http://schemas.openxmlformats.org/drawingml/2006/main">
              <a:ext uri="{FF2B5EF4-FFF2-40B4-BE49-F238E27FC236}">
                <a16:creationId xmlns:a16="http://schemas.microsoft.com/office/drawing/2014/main" id="{FA5EC086-DC6B-45C3-A6C4-6CD43562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3360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B1F3A"/>
            </a:solidFill>
            <a:prstDash val="solid"/>
          </a:ln>
        </p:spPr>
      </p:sp>
      <p:sp>
        <p:nvSpPr>
          <p:cNvPr id="7" name="zone1-kicker">
            <a:extLst xmlns:a="http://schemas.openxmlformats.org/drawingml/2006/main">
              <a:ext uri="{FF2B5EF4-FFF2-40B4-BE49-F238E27FC236}">
                <a16:creationId xmlns:a16="http://schemas.microsoft.com/office/drawing/2014/main" id="{BE23236B-6E14-4A89-B5A8-18D88099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193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2C7D9"/>
                </a:solidFill>
              </a:defRPr>
            </a:pPr>
            <a:r>
              <a:rPr sz="1125" b="1">
                <a:solidFill>
                  <a:srgbClr val="22C7D9"/>
                </a:solidFill>
              </a:rPr>
              <a:t>ZONE 1</a:t>
            </a:r>
          </a:p>
        </p:txBody>
      </p:sp>
      <p:sp>
        <p:nvSpPr>
          <p:cNvPr id="8" name="zone1-title">
            <a:extLst xmlns:a="http://schemas.openxmlformats.org/drawingml/2006/main">
              <a:ext uri="{FF2B5EF4-FFF2-40B4-BE49-F238E27FC236}">
                <a16:creationId xmlns:a16="http://schemas.microsoft.com/office/drawing/2014/main" id="{D4EB2DC2-6667-4DFC-9B51-5BF23128C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00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Evidence discovery</a:t>
            </a:r>
          </a:p>
        </p:txBody>
      </p:sp>
      <p:sp>
        <p:nvSpPr>
          <p:cNvPr id="9" name="zone1-body">
            <a:extLst xmlns:a="http://schemas.openxmlformats.org/drawingml/2006/main">
              <a:ext uri="{FF2B5EF4-FFF2-40B4-BE49-F238E27FC236}">
                <a16:creationId xmlns:a16="http://schemas.microsoft.com/office/drawing/2014/main" id="{EEF00644-A051-4D4F-908E-B0068BED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371850"/>
            <a:ext cx="228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D9F3FF"/>
                </a:solidFill>
              </a:defRPr>
            </a:pPr>
            <a:r>
              <a:rPr sz="1425">
                <a:solidFill>
                  <a:srgbClr val="D9F3FF"/>
                </a:solidFill>
              </a:rPr>
              <a:t>Official portals</a:t>
            </a:r>
          </a:p>
          <a:p xmlns:a="http://schemas.openxmlformats.org/drawingml/2006/main">
            <a:pPr>
              <a:defRPr sz="1425">
                <a:solidFill>
                  <a:srgbClr val="D9F3FF"/>
                </a:solidFill>
              </a:defRPr>
            </a:pPr>
            <a:r>
              <a:rPr sz="1425">
                <a:solidFill>
                  <a:srgbClr val="D9F3FF"/>
                </a:solidFill>
              </a:rPr>
              <a:t>Rank + exclude</a:t>
            </a:r>
          </a:p>
          <a:p xmlns:a="http://schemas.openxmlformats.org/drawingml/2006/main">
            <a:pPr>
              <a:defRPr sz="1425">
                <a:solidFill>
                  <a:srgbClr val="D9F3FF"/>
                </a:solidFill>
              </a:defRPr>
            </a:pPr>
            <a:r>
              <a:rPr sz="1425">
                <a:solidFill>
                  <a:srgbClr val="D9F3FF"/>
                </a:solidFill>
              </a:rPr>
              <a:t>KNOWN / NEW</a:t>
            </a:r>
          </a:p>
        </p:txBody>
      </p:sp>
      <p:sp>
        <p:nvSpPr>
          <p:cNvPr id="10" name="zone-arrow">
            <a:extLst xmlns:a="http://schemas.openxmlformats.org/drawingml/2006/main">
              <a:ext uri="{FF2B5EF4-FFF2-40B4-BE49-F238E27FC236}">
                <a16:creationId xmlns:a16="http://schemas.microsoft.com/office/drawing/2014/main" id="{A04AFCAD-97C3-41B4-9C3E-35067AE8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908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1479FF"/>
                </a:solidFill>
              </a:defRPr>
            </a:pPr>
            <a:r>
              <a:rPr sz="3000" b="1">
                <a:solidFill>
                  <a:srgbClr val="1479FF"/>
                </a:solidFill>
              </a:rPr>
              <a:t>→</a:t>
            </a:r>
          </a:p>
        </p:txBody>
      </p:sp>
      <p:sp>
        <p:nvSpPr>
          <p:cNvPr id="11" name="zone2">
            <a:extLst xmlns:a="http://schemas.openxmlformats.org/drawingml/2006/main">
              <a:ext uri="{FF2B5EF4-FFF2-40B4-BE49-F238E27FC236}">
                <a16:creationId xmlns:a16="http://schemas.microsoft.com/office/drawing/2014/main" id="{26F414C2-5042-4053-AF99-706131DD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33600"/>
            <a:ext cx="3524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26B5E"/>
            </a:solidFill>
            <a:prstDash val="solid"/>
          </a:ln>
        </p:spPr>
      </p:sp>
      <p:sp>
        <p:nvSpPr>
          <p:cNvPr id="12" name="zone2-kicker">
            <a:extLst xmlns:a="http://schemas.openxmlformats.org/drawingml/2006/main">
              <a:ext uri="{FF2B5EF4-FFF2-40B4-BE49-F238E27FC236}">
                <a16:creationId xmlns:a16="http://schemas.microsoft.com/office/drawing/2014/main" id="{8BED32F2-79CD-47AE-807A-EB97DEF4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193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26B5E"/>
                </a:solidFill>
              </a:defRPr>
            </a:pPr>
            <a:r>
              <a:rPr sz="1125" b="1">
                <a:solidFill>
                  <a:srgbClr val="F26B5E"/>
                </a:solidFill>
              </a:rPr>
              <a:t>ZONE 2</a:t>
            </a:r>
          </a:p>
        </p:txBody>
      </p:sp>
      <p:sp>
        <p:nvSpPr>
          <p:cNvPr id="13" name="zone2-title">
            <a:extLst xmlns:a="http://schemas.openxmlformats.org/drawingml/2006/main">
              <a:ext uri="{FF2B5EF4-FFF2-40B4-BE49-F238E27FC236}">
                <a16:creationId xmlns:a16="http://schemas.microsoft.com/office/drawing/2014/main" id="{B04C10FF-60E0-4237-9E19-A4707186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003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F3A"/>
                </a:solidFill>
              </a:defRPr>
            </a:pPr>
            <a:r>
              <a:rPr sz="2100" b="1">
                <a:solidFill>
                  <a:srgbClr val="0B1F3A"/>
                </a:solidFill>
              </a:rPr>
              <a:t>Intelligent mapping</a:t>
            </a:r>
          </a:p>
        </p:txBody>
      </p:sp>
      <p:sp>
        <p:nvSpPr>
          <p:cNvPr id="14" name="zone2-body">
            <a:extLst xmlns:a="http://schemas.openxmlformats.org/drawingml/2006/main">
              <a:ext uri="{FF2B5EF4-FFF2-40B4-BE49-F238E27FC236}">
                <a16:creationId xmlns:a16="http://schemas.microsoft.com/office/drawing/2014/main" id="{156E4C3D-C2AC-4EAE-9CD8-053CB54A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71850"/>
            <a:ext cx="276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06D"/>
                </a:solidFill>
              </a:defRPr>
            </a:pPr>
            <a:r>
              <a:rPr sz="1425">
                <a:solidFill>
                  <a:srgbClr val="52606D"/>
                </a:solidFill>
              </a:rPr>
              <a:t>Fetch + OCR / translate</a:t>
            </a:r>
          </a:p>
          <a:p xmlns:a="http://schemas.openxmlformats.org/drawingml/2006/main">
            <a:pPr>
              <a:defRPr sz="1425">
                <a:solidFill>
                  <a:srgbClr val="52606D"/>
                </a:solidFill>
              </a:defRPr>
            </a:pPr>
            <a:r>
              <a:rPr sz="1425">
                <a:solidFill>
                  <a:srgbClr val="52606D"/>
                </a:solidFill>
              </a:rPr>
              <a:t>Hybrid retrieval + mapping</a:t>
            </a:r>
          </a:p>
          <a:p xmlns:a="http://schemas.openxmlformats.org/drawingml/2006/main">
            <a:pPr>
              <a:defRPr sz="1425">
                <a:solidFill>
                  <a:srgbClr val="52606D"/>
                </a:solidFill>
              </a:defRPr>
            </a:pPr>
            <a:r>
              <a:rPr sz="1425">
                <a:solidFill>
                  <a:srgbClr val="52606D"/>
                </a:solidFill>
              </a:rPr>
              <a:t>Validate + write</a:t>
            </a:r>
          </a:p>
        </p:txBody>
      </p:sp>
      <p:sp>
        <p:nvSpPr>
          <p:cNvPr id="15" name="output-arrow">
            <a:extLst xmlns:a="http://schemas.openxmlformats.org/drawingml/2006/main">
              <a:ext uri="{FF2B5EF4-FFF2-40B4-BE49-F238E27FC236}">
                <a16:creationId xmlns:a16="http://schemas.microsoft.com/office/drawing/2014/main" id="{6B2BE6ED-865A-4CA4-B351-3EC599D3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990850"/>
            <a:ext cx="53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479FF"/>
                </a:solidFill>
              </a:defRPr>
            </a:pPr>
            <a:r>
              <a:rPr sz="2850" b="1">
                <a:solidFill>
                  <a:srgbClr val="1479FF"/>
                </a:solidFill>
              </a:rPr>
              <a:t>→</a:t>
            </a:r>
          </a:p>
        </p:txBody>
      </p:sp>
      <p:sp>
        <p:nvSpPr>
          <p:cNvPr id="16" name="output">
            <a:extLst xmlns:a="http://schemas.openxmlformats.org/drawingml/2006/main">
              <a:ext uri="{FF2B5EF4-FFF2-40B4-BE49-F238E27FC236}">
                <a16:creationId xmlns:a16="http://schemas.microsoft.com/office/drawing/2014/main" id="{5F018CF0-7BAA-48B5-86D2-C1EA074A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0480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CSV / JSON</a:t>
            </a:r>
          </a:p>
        </p:txBody>
      </p:sp>
      <p:sp>
        <p:nvSpPr>
          <p:cNvPr id="17" name="evidence-rail">
            <a:extLst xmlns:a="http://schemas.openxmlformats.org/drawingml/2006/main">
              <a:ext uri="{FF2B5EF4-FFF2-40B4-BE49-F238E27FC236}">
                <a16:creationId xmlns:a16="http://schemas.microsoft.com/office/drawing/2014/main" id="{A8DC54E1-5BE2-42ED-BEA2-F0A26153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953000"/>
            <a:ext cx="752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FF7F2"/>
          </a:solidFill>
          <a:ln xmlns:a="http://schemas.openxmlformats.org/drawingml/2006/main" w="9525">
            <a:solidFill>
              <a:srgbClr val="A7E9DD"/>
            </a:solidFill>
            <a:prstDash val="solid"/>
          </a:ln>
        </p:spPr>
      </p:sp>
      <p:sp>
        <p:nvSpPr>
          <p:cNvPr id="18" name="evidence-rail-text">
            <a:extLst xmlns:a="http://schemas.openxmlformats.org/drawingml/2006/main">
              <a:ext uri="{FF2B5EF4-FFF2-40B4-BE49-F238E27FC236}">
                <a16:creationId xmlns:a16="http://schemas.microsoft.com/office/drawing/2014/main" id="{09E629A7-B4AB-4CC2-8D4A-B8218AB0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12445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Exact source · exact provision · indicator · confidence · reviewer notes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D8CA952-86CF-49C7-A023-0483E536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0" name="footer">
            <a:extLst xmlns:a="http://schemas.openxmlformats.org/drawingml/2006/main">
              <a:ext uri="{FF2B5EF4-FFF2-40B4-BE49-F238E27FC236}">
                <a16:creationId xmlns:a16="http://schemas.microsoft.com/office/drawing/2014/main" id="{21667796-5E94-4CF7-9D1A-C1DC7442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06D"/>
                </a:solidFill>
              </a:defRPr>
            </a:pPr>
            <a:r>
              <a:rPr sz="825">
                <a:solidFill>
                  <a:srgbClr val="52606D"/>
                </a:solidFill>
              </a:rPr>
              <a:t>Galaxefi · UN Global Hackathon · 3 August 2026</a:t>
            </a:r>
          </a:p>
        </p:txBody>
      </p:sp>
      <p:sp>
        <p:nvSpPr>
          <p:cNvPr id="21" name="page">
            <a:extLst xmlns:a="http://schemas.openxmlformats.org/drawingml/2006/main">
              <a:ext uri="{FF2B5EF4-FFF2-40B4-BE49-F238E27FC236}">
                <a16:creationId xmlns:a16="http://schemas.microsoft.com/office/drawing/2014/main" id="{0324053B-1EA7-4F46-A6A7-479B8323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479FF"/>
                </a:solidFill>
              </a:defRPr>
            </a:pPr>
            <a:r>
              <a:rPr sz="900" b="1">
                <a:solidFill>
                  <a:srgbClr val="1479FF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154133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kicker">
            <a:extLst xmlns:a="http://schemas.openxmlformats.org/drawingml/2006/main">
              <a:ext uri="{FF2B5EF4-FFF2-40B4-BE49-F238E27FC236}">
                <a16:creationId xmlns:a16="http://schemas.microsoft.com/office/drawing/2014/main" id="{AEFEAAD9-14BF-465D-9447-DB02B5D9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79FF"/>
                </a:solidFill>
              </a:defRPr>
            </a:pPr>
            <a:r>
              <a:rPr sz="1050" b="1">
                <a:solidFill>
                  <a:srgbClr val="1479FF"/>
                </a:solidFill>
              </a:rPr>
              <a:t>WHY THIS ENGINE IS DIFFERENT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1164C51-6F9B-4B44-8143-24B1B25C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Four design choices make the engine reusable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EB2B2AEB-6E9F-4180-ABBC-844A9296D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716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Each differentiator addresses a scoring, reliability, cost, or scalability constraint.</a:t>
            </a:r>
          </a:p>
        </p:txBody>
      </p:sp>
      <p:sp>
        <p:nvSpPr>
          <p:cNvPr id="4" name="diff-0">
            <a:extLst xmlns:a="http://schemas.openxmlformats.org/drawingml/2006/main">
              <a:ext uri="{FF2B5EF4-FFF2-40B4-BE49-F238E27FC236}">
                <a16:creationId xmlns:a16="http://schemas.microsoft.com/office/drawing/2014/main" id="{FBA71741-EE52-4922-9179-ED48FDEF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4953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diff-dot-0">
            <a:extLst xmlns:a="http://schemas.openxmlformats.org/drawingml/2006/main">
              <a:ext uri="{FF2B5EF4-FFF2-40B4-BE49-F238E27FC236}">
                <a16:creationId xmlns:a16="http://schemas.microsoft.com/office/drawing/2014/main" id="{C5628203-83AB-4EA9-BEE1-17B37837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765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5E"/>
          </a:solidFill>
          <a:ln xmlns:a="http://schemas.openxmlformats.org/drawingml/2006/main" w="0">
            <a:solidFill>
              <a:srgbClr val="F26B5E"/>
            </a:solidFill>
            <a:prstDash val="solid"/>
          </a:ln>
        </p:spPr>
      </p:sp>
      <p:sp>
        <p:nvSpPr>
          <p:cNvPr id="6" name="diff-number-0">
            <a:extLst xmlns:a="http://schemas.openxmlformats.org/drawingml/2006/main">
              <a:ext uri="{FF2B5EF4-FFF2-40B4-BE49-F238E27FC236}">
                <a16:creationId xmlns:a16="http://schemas.microsoft.com/office/drawing/2014/main" id="{88F43DE1-8E64-4D99-B23D-DD54C2C4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384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diff-title-0">
            <a:extLst xmlns:a="http://schemas.openxmlformats.org/drawingml/2006/main">
              <a:ext uri="{FF2B5EF4-FFF2-40B4-BE49-F238E27FC236}">
                <a16:creationId xmlns:a16="http://schemas.microsoft.com/office/drawing/2014/main" id="{CE09F325-6A6D-4595-A40E-3D255E9F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3812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NEW provision detection</a:t>
            </a:r>
          </a:p>
        </p:txBody>
      </p:sp>
      <p:sp>
        <p:nvSpPr>
          <p:cNvPr id="8" name="diff-body-0">
            <a:extLst xmlns:a="http://schemas.openxmlformats.org/drawingml/2006/main">
              <a:ext uri="{FF2B5EF4-FFF2-40B4-BE49-F238E27FC236}">
                <a16:creationId xmlns:a16="http://schemas.microsoft.com/office/drawing/2014/main" id="{27CE272A-93D4-442B-84D8-93E731A1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85750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6D"/>
                </a:solidFill>
              </a:defRPr>
            </a:pPr>
            <a:r>
              <a:rPr sz="1275">
                <a:solidFill>
                  <a:srgbClr val="52606D"/>
                </a:solidFill>
              </a:rPr>
              <a:t>Independent discoveries are separated from Round 1 examples.</a:t>
            </a:r>
          </a:p>
        </p:txBody>
      </p:sp>
      <p:sp>
        <p:nvSpPr>
          <p:cNvPr id="9" name="diff-1">
            <a:extLst xmlns:a="http://schemas.openxmlformats.org/drawingml/2006/main">
              <a:ext uri="{FF2B5EF4-FFF2-40B4-BE49-F238E27FC236}">
                <a16:creationId xmlns:a16="http://schemas.microsoft.com/office/drawing/2014/main" id="{4F527C07-3D51-47B8-B64A-7D08EF38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14550"/>
            <a:ext cx="4953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0" name="diff-dot-1">
            <a:extLst xmlns:a="http://schemas.openxmlformats.org/drawingml/2006/main">
              <a:ext uri="{FF2B5EF4-FFF2-40B4-BE49-F238E27FC236}">
                <a16:creationId xmlns:a16="http://schemas.microsoft.com/office/drawing/2014/main" id="{55AE85A2-23A9-4F45-9299-E0B4EC59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765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9FF"/>
          </a:solidFill>
          <a:ln xmlns:a="http://schemas.openxmlformats.org/drawingml/2006/main" w="0">
            <a:solidFill>
              <a:srgbClr val="1479FF"/>
            </a:solidFill>
            <a:prstDash val="solid"/>
          </a:ln>
        </p:spPr>
      </p:sp>
      <p:sp>
        <p:nvSpPr>
          <p:cNvPr id="11" name="diff-number-1">
            <a:extLst xmlns:a="http://schemas.openxmlformats.org/drawingml/2006/main">
              <a:ext uri="{FF2B5EF4-FFF2-40B4-BE49-F238E27FC236}">
                <a16:creationId xmlns:a16="http://schemas.microsoft.com/office/drawing/2014/main" id="{27B7B458-4A99-4ACD-A515-4C5EDF2C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384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diff-title-1">
            <a:extLst xmlns:a="http://schemas.openxmlformats.org/drawingml/2006/main">
              <a:ext uri="{FF2B5EF4-FFF2-40B4-BE49-F238E27FC236}">
                <a16:creationId xmlns:a16="http://schemas.microsoft.com/office/drawing/2014/main" id="{65D40E1C-2F89-424D-8E40-62AB2BDB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Eight provider tiers</a:t>
            </a:r>
          </a:p>
        </p:txBody>
      </p:sp>
      <p:sp>
        <p:nvSpPr>
          <p:cNvPr id="13" name="diff-body-1">
            <a:extLst xmlns:a="http://schemas.openxmlformats.org/drawingml/2006/main">
              <a:ext uri="{FF2B5EF4-FFF2-40B4-BE49-F238E27FC236}">
                <a16:creationId xmlns:a16="http://schemas.microsoft.com/office/drawing/2014/main" id="{4F29A2E9-6B60-4B62-A1FA-B68B0CD9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5750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6D"/>
                </a:solidFill>
              </a:defRPr>
            </a:pPr>
            <a:r>
              <a:rPr sz="1275">
                <a:solidFill>
                  <a:srgbClr val="52606D"/>
                </a:solidFill>
              </a:rPr>
              <a:t>Cloud and local choices; one provider pinned for each run.</a:t>
            </a:r>
          </a:p>
        </p:txBody>
      </p:sp>
      <p:sp>
        <p:nvSpPr>
          <p:cNvPr id="14" name="diff-2">
            <a:extLst xmlns:a="http://schemas.openxmlformats.org/drawingml/2006/main">
              <a:ext uri="{FF2B5EF4-FFF2-40B4-BE49-F238E27FC236}">
                <a16:creationId xmlns:a16="http://schemas.microsoft.com/office/drawing/2014/main" id="{2ACC0FC8-A1AE-4288-B258-C8217410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4953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diff-dot-2">
            <a:extLst xmlns:a="http://schemas.openxmlformats.org/drawingml/2006/main">
              <a:ext uri="{FF2B5EF4-FFF2-40B4-BE49-F238E27FC236}">
                <a16:creationId xmlns:a16="http://schemas.microsoft.com/office/drawing/2014/main" id="{EE4CA877-0D16-4F4A-9B75-576DA4B6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529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6" name="diff-number-2">
            <a:extLst xmlns:a="http://schemas.openxmlformats.org/drawingml/2006/main">
              <a:ext uri="{FF2B5EF4-FFF2-40B4-BE49-F238E27FC236}">
                <a16:creationId xmlns:a16="http://schemas.microsoft.com/office/drawing/2014/main" id="{94132D03-C848-4054-8C15-ADFE0BF2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148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7" name="diff-title-2">
            <a:extLst xmlns:a="http://schemas.openxmlformats.org/drawingml/2006/main">
              <a:ext uri="{FF2B5EF4-FFF2-40B4-BE49-F238E27FC236}">
                <a16:creationId xmlns:a16="http://schemas.microsoft.com/office/drawing/2014/main" id="{3D727480-E55E-46A1-A231-29C88271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576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Measured cost reporting</a:t>
            </a:r>
          </a:p>
        </p:txBody>
      </p:sp>
      <p:sp>
        <p:nvSpPr>
          <p:cNvPr id="18" name="diff-body-2">
            <a:extLst xmlns:a="http://schemas.openxmlformats.org/drawingml/2006/main">
              <a:ext uri="{FF2B5EF4-FFF2-40B4-BE49-F238E27FC236}">
                <a16:creationId xmlns:a16="http://schemas.microsoft.com/office/drawing/2014/main" id="{5EA92110-DE8A-4E43-8493-28BCF206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3390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6D"/>
                </a:solidFill>
              </a:defRPr>
            </a:pPr>
            <a:r>
              <a:rPr sz="1275">
                <a:solidFill>
                  <a:srgbClr val="52606D"/>
                </a:solidFill>
              </a:rPr>
              <a:t>Token, OCR, latency, and total run cost are logged.</a:t>
            </a:r>
          </a:p>
        </p:txBody>
      </p:sp>
      <p:sp>
        <p:nvSpPr>
          <p:cNvPr id="19" name="diff-3">
            <a:extLst xmlns:a="http://schemas.openxmlformats.org/drawingml/2006/main">
              <a:ext uri="{FF2B5EF4-FFF2-40B4-BE49-F238E27FC236}">
                <a16:creationId xmlns:a16="http://schemas.microsoft.com/office/drawing/2014/main" id="{F711D01E-89DD-4087-839D-42B9C772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90950"/>
            <a:ext cx="4953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0" name="diff-dot-3">
            <a:extLst xmlns:a="http://schemas.openxmlformats.org/drawingml/2006/main">
              <a:ext uri="{FF2B5EF4-FFF2-40B4-BE49-F238E27FC236}">
                <a16:creationId xmlns:a16="http://schemas.microsoft.com/office/drawing/2014/main" id="{2EEBAB35-8680-4D55-A8F3-EC1A4934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529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7D9"/>
          </a:solidFill>
          <a:ln xmlns:a="http://schemas.openxmlformats.org/drawingml/2006/main" w="0">
            <a:solidFill>
              <a:srgbClr val="22C7D9"/>
            </a:solidFill>
            <a:prstDash val="solid"/>
          </a:ln>
        </p:spPr>
      </p:sp>
      <p:sp>
        <p:nvSpPr>
          <p:cNvPr id="21" name="diff-number-3">
            <a:extLst xmlns:a="http://schemas.openxmlformats.org/drawingml/2006/main">
              <a:ext uri="{FF2B5EF4-FFF2-40B4-BE49-F238E27FC236}">
                <a16:creationId xmlns:a16="http://schemas.microsoft.com/office/drawing/2014/main" id="{D869AB80-0AEF-41B3-840C-4326CEC9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148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2" name="diff-title-3">
            <a:extLst xmlns:a="http://schemas.openxmlformats.org/drawingml/2006/main">
              <a:ext uri="{FF2B5EF4-FFF2-40B4-BE49-F238E27FC236}">
                <a16:creationId xmlns:a16="http://schemas.microsoft.com/office/drawing/2014/main" id="{23C00E09-CB91-49E2-930F-7A921878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576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YAML economy configs</a:t>
            </a:r>
          </a:p>
        </p:txBody>
      </p:sp>
      <p:sp>
        <p:nvSpPr>
          <p:cNvPr id="23" name="diff-body-3">
            <a:extLst xmlns:a="http://schemas.openxmlformats.org/drawingml/2006/main">
              <a:ext uri="{FF2B5EF4-FFF2-40B4-BE49-F238E27FC236}">
                <a16:creationId xmlns:a16="http://schemas.microsoft.com/office/drawing/2014/main" id="{1A86A00E-9AB5-42DE-9237-1DF293C7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3390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6D"/>
                </a:solidFill>
              </a:defRPr>
            </a:pPr>
            <a:r>
              <a:rPr sz="1275">
                <a:solidFill>
                  <a:srgbClr val="52606D"/>
                </a:solidFill>
              </a:rPr>
              <a:t>Singapore, Australia, and Malaysia share one pipeline.</a:t>
            </a:r>
          </a:p>
        </p:txBody>
      </p:sp>
      <p:sp>
        <p:nvSpPr>
          <p:cNvPr id="2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33F1518-8ED6-4D8B-8666-D2DAD8CB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5" name="footer">
            <a:extLst xmlns:a="http://schemas.openxmlformats.org/drawingml/2006/main">
              <a:ext uri="{FF2B5EF4-FFF2-40B4-BE49-F238E27FC236}">
                <a16:creationId xmlns:a16="http://schemas.microsoft.com/office/drawing/2014/main" id="{66F1F2DC-59A6-4E7D-9239-CE0F01397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06D"/>
                </a:solidFill>
              </a:defRPr>
            </a:pPr>
            <a:r>
              <a:rPr sz="825">
                <a:solidFill>
                  <a:srgbClr val="52606D"/>
                </a:solidFill>
              </a:rPr>
              <a:t>Galaxefi · UN Global Hackathon · 3 August 2026</a:t>
            </a:r>
          </a:p>
        </p:txBody>
      </p:sp>
      <p:sp>
        <p:nvSpPr>
          <p:cNvPr id="26" name="page">
            <a:extLst xmlns:a="http://schemas.openxmlformats.org/drawingml/2006/main">
              <a:ext uri="{FF2B5EF4-FFF2-40B4-BE49-F238E27FC236}">
                <a16:creationId xmlns:a16="http://schemas.microsoft.com/office/drawing/2014/main" id="{7C3C92BC-8081-4C0C-88EE-4A705DB0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479FF"/>
                </a:solidFill>
              </a:defRPr>
            </a:pPr>
            <a:r>
              <a:rPr sz="900" b="1">
                <a:solidFill>
                  <a:srgbClr val="1479FF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046030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">
            <a:extLst xmlns:a="http://schemas.openxmlformats.org/drawingml/2006/main">
              <a:ext uri="{FF2B5EF4-FFF2-40B4-BE49-F238E27FC236}">
                <a16:creationId xmlns:a16="http://schemas.microsoft.com/office/drawing/2014/main" id="{821B2FA0-D3F2-4805-9402-56B1AF19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79FF"/>
                </a:solidFill>
              </a:defRPr>
            </a:pPr>
            <a:r>
              <a:rPr sz="1050" b="1">
                <a:solidFill>
                  <a:srgbClr val="1479FF"/>
                </a:solidFill>
              </a:rPr>
              <a:t>SINGAPORE P7 EVIDENCE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BD1FEB7-17AD-4EDF-A219-59D18634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One official Act, two traceable RDTII results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38DDF4C-EFF9-41D2-9B15-861B0D28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716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Selected PDPA provisions demonstrate exact-source NEW and KNOWN results from the completed run.</a:t>
            </a:r>
          </a:p>
        </p:txBody>
      </p:sp>
      <p:sp>
        <p:nvSpPr>
          <p:cNvPr id="4" name="source-panel">
            <a:extLst xmlns:a="http://schemas.openxmlformats.org/drawingml/2006/main">
              <a:ext uri="{FF2B5EF4-FFF2-40B4-BE49-F238E27FC236}">
                <a16:creationId xmlns:a16="http://schemas.microsoft.com/office/drawing/2014/main" id="{9FE59D84-4AFA-4C51-98C4-59CA17C6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4953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B1F3A"/>
            </a:solidFill>
            <a:prstDash val="solid"/>
          </a:ln>
        </p:spPr>
      </p:sp>
      <p:sp>
        <p:nvSpPr>
          <p:cNvPr id="5" name="source-kicker">
            <a:extLst xmlns:a="http://schemas.openxmlformats.org/drawingml/2006/main">
              <a:ext uri="{FF2B5EF4-FFF2-40B4-BE49-F238E27FC236}">
                <a16:creationId xmlns:a16="http://schemas.microsoft.com/office/drawing/2014/main" id="{05EDFA52-521E-4C01-AEDE-E0DFDEE0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2C7D9"/>
                </a:solidFill>
              </a:defRPr>
            </a:pPr>
            <a:r>
              <a:rPr sz="975" b="1">
                <a:solidFill>
                  <a:srgbClr val="22C7D9"/>
                </a:solidFill>
              </a:rPr>
              <a:t>OFFICIAL SOURCE</a:t>
            </a:r>
          </a:p>
        </p:txBody>
      </p:sp>
      <p:sp>
        <p:nvSpPr>
          <p:cNvPr id="6" name="source-names">
            <a:extLst xmlns:a="http://schemas.openxmlformats.org/drawingml/2006/main">
              <a:ext uri="{FF2B5EF4-FFF2-40B4-BE49-F238E27FC236}">
                <a16:creationId xmlns:a16="http://schemas.microsoft.com/office/drawing/2014/main" id="{69817730-A132-44D6-AC77-A4288049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62250"/>
            <a:ext cx="3714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Personal Data</a:t>
            </a:r>
          </a:p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Protection Act 2012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Singapore Statutes Online</a:t>
            </a:r>
          </a:p>
        </p:txBody>
      </p:sp>
      <p:sp>
        <p:nvSpPr>
          <p:cNvPr id="7" name="source-foot">
            <a:extLst xmlns:a="http://schemas.openxmlformats.org/drawingml/2006/main">
              <a:ext uri="{FF2B5EF4-FFF2-40B4-BE49-F238E27FC236}">
                <a16:creationId xmlns:a16="http://schemas.microsoft.com/office/drawing/2014/main" id="{CD094FE2-AC64-4326-867C-B1265CEC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2915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8E6FF"/>
                </a:solidFill>
              </a:defRPr>
            </a:pPr>
            <a:r>
              <a:rPr sz="1200">
                <a:solidFill>
                  <a:srgbClr val="C8E6FF"/>
                </a:solidFill>
              </a:rPr>
              <a:t>sso.agc.gov.sg · Exact source text retained</a:t>
            </a:r>
          </a:p>
        </p:txBody>
      </p:sp>
      <p:sp>
        <p:nvSpPr>
          <p:cNvPr id="8" name="case-arrow">
            <a:extLst xmlns:a="http://schemas.openxmlformats.org/drawingml/2006/main">
              <a:ext uri="{FF2B5EF4-FFF2-40B4-BE49-F238E27FC236}">
                <a16:creationId xmlns:a16="http://schemas.microsoft.com/office/drawing/2014/main" id="{ACA0B2AF-3534-4549-8529-B990DDA1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479FF"/>
                </a:solidFill>
              </a:defRPr>
            </a:pPr>
            <a:r>
              <a:rPr sz="3300" b="1">
                <a:solidFill>
                  <a:srgbClr val="1479FF"/>
                </a:solidFill>
              </a:rPr>
              <a:t>→</a:t>
            </a:r>
          </a:p>
        </p:txBody>
      </p:sp>
      <p:sp>
        <p:nvSpPr>
          <p:cNvPr id="9" name="case-row-0">
            <a:extLst xmlns:a="http://schemas.openxmlformats.org/drawingml/2006/main">
              <a:ext uri="{FF2B5EF4-FFF2-40B4-BE49-F238E27FC236}">
                <a16:creationId xmlns:a16="http://schemas.microsoft.com/office/drawing/2014/main" id="{B57D66E2-EBF6-4DE5-945C-F5DF8767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24100"/>
            <a:ext cx="4476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0" name="tag-0">
            <a:extLst xmlns:a="http://schemas.openxmlformats.org/drawingml/2006/main">
              <a:ext uri="{FF2B5EF4-FFF2-40B4-BE49-F238E27FC236}">
                <a16:creationId xmlns:a16="http://schemas.microsoft.com/office/drawing/2014/main" id="{B23AC89B-E251-48DE-BB4F-0A70C9B6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33650"/>
            <a:ext cx="781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6B5E"/>
          </a:solidFill>
          <a:ln xmlns:a="http://schemas.openxmlformats.org/drawingml/2006/main" w="0">
            <a:solidFill>
              <a:srgbClr val="F26B5E"/>
            </a:solidFill>
            <a:prstDash val="solid"/>
          </a:ln>
        </p:spPr>
      </p:sp>
      <p:sp>
        <p:nvSpPr>
          <p:cNvPr id="11" name="tag-text-0">
            <a:extLst xmlns:a="http://schemas.openxmlformats.org/drawingml/2006/main">
              <a:ext uri="{FF2B5EF4-FFF2-40B4-BE49-F238E27FC236}">
                <a16:creationId xmlns:a16="http://schemas.microsoft.com/office/drawing/2014/main" id="{38AD392F-95C3-4D5E-9A8F-E837FA21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003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NEW</a:t>
            </a:r>
          </a:p>
        </p:txBody>
      </p:sp>
      <p:sp>
        <p:nvSpPr>
          <p:cNvPr id="12" name="row-head-0">
            <a:extLst xmlns:a="http://schemas.openxmlformats.org/drawingml/2006/main">
              <a:ext uri="{FF2B5EF4-FFF2-40B4-BE49-F238E27FC236}">
                <a16:creationId xmlns:a16="http://schemas.microsoft.com/office/drawing/2014/main" id="{978A22B6-D598-4C58-8FEE-13360260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5527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P7-I3  ·  Section 50(4)</a:t>
            </a:r>
          </a:p>
        </p:txBody>
      </p:sp>
      <p:sp>
        <p:nvSpPr>
          <p:cNvPr id="13" name="row-body-0">
            <a:extLst xmlns:a="http://schemas.openxmlformats.org/drawingml/2006/main">
              <a:ext uri="{FF2B5EF4-FFF2-40B4-BE49-F238E27FC236}">
                <a16:creationId xmlns:a16="http://schemas.microsoft.com/office/drawing/2014/main" id="{4C0D4469-BC16-418C-A35B-73A3DD28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956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06D"/>
                </a:solidFill>
              </a:defRPr>
            </a:pPr>
            <a:r>
              <a:rPr sz="1200">
                <a:solidFill>
                  <a:srgbClr val="52606D"/>
                </a:solidFill>
              </a:rPr>
              <a:t>One-year investigation-record retention</a:t>
            </a:r>
          </a:p>
          <a:p xmlns:a="http://schemas.openxmlformats.org/drawingml/2006/main">
            <a:pPr>
              <a:defRPr sz="1200">
                <a:solidFill>
                  <a:srgbClr val="52606D"/>
                </a:solidFill>
              </a:defRPr>
            </a:pPr>
            <a:r>
              <a:rPr sz="1200">
                <a:solidFill>
                  <a:srgbClr val="52606D"/>
                </a:solidFill>
              </a:rPr>
              <a:t>Confidence 0.92  ·  Exact snippet retained</a:t>
            </a:r>
          </a:p>
        </p:txBody>
      </p:sp>
      <p:sp>
        <p:nvSpPr>
          <p:cNvPr id="14" name="case-row-1">
            <a:extLst xmlns:a="http://schemas.openxmlformats.org/drawingml/2006/main">
              <a:ext uri="{FF2B5EF4-FFF2-40B4-BE49-F238E27FC236}">
                <a16:creationId xmlns:a16="http://schemas.microsoft.com/office/drawing/2014/main" id="{DA8CBEF6-BFFC-4B7B-B0A3-FCB10628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90950"/>
            <a:ext cx="4476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tag-1">
            <a:extLst xmlns:a="http://schemas.openxmlformats.org/drawingml/2006/main">
              <a:ext uri="{FF2B5EF4-FFF2-40B4-BE49-F238E27FC236}">
                <a16:creationId xmlns:a16="http://schemas.microsoft.com/office/drawing/2014/main" id="{B6ACC5AF-AA43-4EAE-8340-51326B61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00500"/>
            <a:ext cx="781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2C7D9"/>
          </a:solidFill>
          <a:ln xmlns:a="http://schemas.openxmlformats.org/drawingml/2006/main" w="0">
            <a:solidFill>
              <a:srgbClr val="22C7D9"/>
            </a:solidFill>
            <a:prstDash val="solid"/>
          </a:ln>
        </p:spPr>
      </p:sp>
      <p:sp>
        <p:nvSpPr>
          <p:cNvPr id="16" name="tag-text-1">
            <a:extLst xmlns:a="http://schemas.openxmlformats.org/drawingml/2006/main">
              <a:ext uri="{FF2B5EF4-FFF2-40B4-BE49-F238E27FC236}">
                <a16:creationId xmlns:a16="http://schemas.microsoft.com/office/drawing/2014/main" id="{576727D5-352D-4B10-9840-D9A61412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6717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KNOWN</a:t>
            </a:r>
          </a:p>
        </p:txBody>
      </p:sp>
      <p:sp>
        <p:nvSpPr>
          <p:cNvPr id="17" name="row-head-1">
            <a:extLst xmlns:a="http://schemas.openxmlformats.org/drawingml/2006/main">
              <a:ext uri="{FF2B5EF4-FFF2-40B4-BE49-F238E27FC236}">
                <a16:creationId xmlns:a16="http://schemas.microsoft.com/office/drawing/2014/main" id="{8FE16632-B4EE-4BA0-8CEE-072E61E6C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195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P7-I4  ·  Section 11(3)</a:t>
            </a:r>
          </a:p>
        </p:txBody>
      </p:sp>
      <p:sp>
        <p:nvSpPr>
          <p:cNvPr id="18" name="row-body-1">
            <a:extLst xmlns:a="http://schemas.openxmlformats.org/drawingml/2006/main">
              <a:ext uri="{FF2B5EF4-FFF2-40B4-BE49-F238E27FC236}">
                <a16:creationId xmlns:a16="http://schemas.microsoft.com/office/drawing/2014/main" id="{B5E569EC-A5A9-4042-843F-7155FFEC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624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06D"/>
                </a:solidFill>
              </a:defRPr>
            </a:pPr>
            <a:r>
              <a:rPr sz="1200">
                <a:solidFill>
                  <a:srgbClr val="52606D"/>
                </a:solidFill>
              </a:rPr>
              <a:t>Designated data-protection function</a:t>
            </a:r>
          </a:p>
          <a:p xmlns:a="http://schemas.openxmlformats.org/drawingml/2006/main">
            <a:pPr>
              <a:defRPr sz="1200">
                <a:solidFill>
                  <a:srgbClr val="52606D"/>
                </a:solidFill>
              </a:defRPr>
            </a:pPr>
            <a:r>
              <a:rPr sz="1200">
                <a:solidFill>
                  <a:srgbClr val="52606D"/>
                </a:solidFill>
              </a:rPr>
              <a:t>Confidence 0.98  ·  Exact snippet retained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34E9BDF-4BA4-4471-BE66-956991AA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0" name="footer">
            <a:extLst xmlns:a="http://schemas.openxmlformats.org/drawingml/2006/main">
              <a:ext uri="{FF2B5EF4-FFF2-40B4-BE49-F238E27FC236}">
                <a16:creationId xmlns:a16="http://schemas.microsoft.com/office/drawing/2014/main" id="{3A82B615-B87C-4A48-BDF2-968FFE92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06D"/>
                </a:solidFill>
              </a:defRPr>
            </a:pPr>
            <a:r>
              <a:rPr sz="825">
                <a:solidFill>
                  <a:srgbClr val="52606D"/>
                </a:solidFill>
              </a:rPr>
              <a:t>Galaxefi · UN Global Hackathon · 3 August 2026</a:t>
            </a:r>
          </a:p>
        </p:txBody>
      </p:sp>
      <p:sp>
        <p:nvSpPr>
          <p:cNvPr id="21" name="page">
            <a:extLst xmlns:a="http://schemas.openxmlformats.org/drawingml/2006/main">
              <a:ext uri="{FF2B5EF4-FFF2-40B4-BE49-F238E27FC236}">
                <a16:creationId xmlns:a16="http://schemas.microsoft.com/office/drawing/2014/main" id="{CB99E7ED-D3D7-4352-B8E7-7A3BA72B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479FF"/>
                </a:solidFill>
              </a:defRPr>
            </a:pPr>
            <a:r>
              <a:rPr sz="900" b="1">
                <a:solidFill>
                  <a:srgbClr val="1479FF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806907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">
            <a:extLst xmlns:a="http://schemas.openxmlformats.org/drawingml/2006/main">
              <a:ext uri="{FF2B5EF4-FFF2-40B4-BE49-F238E27FC236}">
                <a16:creationId xmlns:a16="http://schemas.microsoft.com/office/drawing/2014/main" id="{1C6903AB-3B33-4623-A457-2693EFC5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79FF"/>
                </a:solidFill>
              </a:defRPr>
            </a:pPr>
            <a:r>
              <a:rPr sz="1050" b="1">
                <a:solidFill>
                  <a:srgbClr val="1479FF"/>
                </a:solidFill>
              </a:rPr>
              <a:t>MEASURED PROOF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3AA7335-DA72-4D3C-9705-E6482D8C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Known checks recovered - and more evidence found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D0EF22C1-D48D-424C-AC48-A94FFA68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716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Repository evaluator and cost-log results from the six completed runs.</a:t>
            </a:r>
          </a:p>
        </p:txBody>
      </p:sp>
      <p:sp>
        <p:nvSpPr>
          <p:cNvPr id="4" name="metric-0">
            <a:extLst xmlns:a="http://schemas.openxmlformats.org/drawingml/2006/main">
              <a:ext uri="{FF2B5EF4-FFF2-40B4-BE49-F238E27FC236}">
                <a16:creationId xmlns:a16="http://schemas.microsoft.com/office/drawing/2014/main" id="{59C5BE3E-8C61-4BB3-B49F-709B6217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3050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402ED519-28BA-421F-A539-DBC4FA92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0505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79FF"/>
                </a:solidFill>
              </a:defRPr>
            </a:pPr>
            <a:r>
              <a:rPr sz="3000" b="1">
                <a:solidFill>
                  <a:srgbClr val="1479FF"/>
                </a:solidFill>
              </a:rPr>
              <a:t>27/27</a:t>
            </a:r>
          </a:p>
        </p:txBody>
      </p:sp>
      <p:sp>
        <p:nvSpPr>
          <p:cNvPr id="6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4EFE135B-9883-4107-A158-5017C31A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known indicator checks</a:t>
            </a:r>
          </a:p>
        </p:txBody>
      </p:sp>
      <p:sp>
        <p:nvSpPr>
          <p:cNvPr id="7" name="metric-1">
            <a:extLst xmlns:a="http://schemas.openxmlformats.org/drawingml/2006/main">
              <a:ext uri="{FF2B5EF4-FFF2-40B4-BE49-F238E27FC236}">
                <a16:creationId xmlns:a16="http://schemas.microsoft.com/office/drawing/2014/main" id="{4C9D8143-C37D-4138-BF2B-7D1E4ED8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23050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E54D5254-BEE7-4472-88CF-15570431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30505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2C7D9"/>
                </a:solidFill>
              </a:defRPr>
            </a:pPr>
            <a:r>
              <a:rPr sz="3000" b="1">
                <a:solidFill>
                  <a:srgbClr val="22C7D9"/>
                </a:solidFill>
              </a:rPr>
              <a:t>73</a:t>
            </a:r>
          </a:p>
        </p:txBody>
      </p:sp>
      <p:sp>
        <p:nvSpPr>
          <p:cNvPr id="9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58F0B356-B95B-4893-98A4-8293A3FC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95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NEW candidates</a:t>
            </a:r>
          </a:p>
        </p:txBody>
      </p:sp>
      <p:sp>
        <p:nvSpPr>
          <p:cNvPr id="10" name="metric-2">
            <a:extLst xmlns:a="http://schemas.openxmlformats.org/drawingml/2006/main">
              <a:ext uri="{FF2B5EF4-FFF2-40B4-BE49-F238E27FC236}">
                <a16:creationId xmlns:a16="http://schemas.microsoft.com/office/drawing/2014/main" id="{35DD4576-8F84-4C09-A605-5FBCB943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095500"/>
            <a:ext cx="23050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7916A76B-F10F-43D6-BDAB-F8231362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0505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6B5E"/>
                </a:solidFill>
              </a:defRPr>
            </a:pPr>
            <a:r>
              <a:rPr sz="3000" b="1">
                <a:solidFill>
                  <a:srgbClr val="F26B5E"/>
                </a:solidFill>
              </a:rPr>
              <a:t>$0.43</a:t>
            </a:r>
          </a:p>
        </p:txBody>
      </p:sp>
      <p:sp>
        <p:nvSpPr>
          <p:cNvPr id="12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9BA510AF-0D96-41F0-B5DF-FCD2037C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95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Singapore P7 model cost</a:t>
            </a:r>
          </a:p>
        </p:txBody>
      </p:sp>
      <p:sp>
        <p:nvSpPr>
          <p:cNvPr id="13" name="metric-3">
            <a:extLst xmlns:a="http://schemas.openxmlformats.org/drawingml/2006/main">
              <a:ext uri="{FF2B5EF4-FFF2-40B4-BE49-F238E27FC236}">
                <a16:creationId xmlns:a16="http://schemas.microsoft.com/office/drawing/2014/main" id="{3349F6B8-2EFF-4CA1-8C68-5CCE23990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095500"/>
            <a:ext cx="23050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4" name="metric-value-3">
            <a:extLst xmlns:a="http://schemas.openxmlformats.org/drawingml/2006/main">
              <a:ext uri="{FF2B5EF4-FFF2-40B4-BE49-F238E27FC236}">
                <a16:creationId xmlns:a16="http://schemas.microsoft.com/office/drawing/2014/main" id="{48F649ED-23E5-49ED-9614-87A9BCC3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0505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4B942"/>
                </a:solidFill>
              </a:defRPr>
            </a:pPr>
            <a:r>
              <a:rPr sz="3000" b="1">
                <a:solidFill>
                  <a:srgbClr val="F4B942"/>
                </a:solidFill>
              </a:rPr>
              <a:t>3 × 2</a:t>
            </a:r>
          </a:p>
        </p:txBody>
      </p:sp>
      <p:sp>
        <p:nvSpPr>
          <p:cNvPr id="15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B2626F44-B020-4EFA-8FC2-08E5388A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95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economies × pillars</a:t>
            </a:r>
          </a:p>
        </p:txBody>
      </p:sp>
      <p:sp>
        <p:nvSpPr>
          <p:cNvPr id="16" name="proof-note">
            <a:extLst xmlns:a="http://schemas.openxmlformats.org/drawingml/2006/main">
              <a:ext uri="{FF2B5EF4-FFF2-40B4-BE49-F238E27FC236}">
                <a16:creationId xmlns:a16="http://schemas.microsoft.com/office/drawing/2014/main" id="{EF097C58-CCC3-4C4E-9516-0C78386B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10096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DFF7F2"/>
          </a:solidFill>
          <a:ln xmlns:a="http://schemas.openxmlformats.org/drawingml/2006/main" w="9525">
            <a:solidFill>
              <a:srgbClr val="A7E9DD"/>
            </a:solidFill>
            <a:prstDash val="solid"/>
          </a:ln>
        </p:spPr>
      </p:sp>
      <p:sp>
        <p:nvSpPr>
          <p:cNvPr id="17" name="proof-note-title">
            <a:extLst xmlns:a="http://schemas.openxmlformats.org/drawingml/2006/main">
              <a:ext uri="{FF2B5EF4-FFF2-40B4-BE49-F238E27FC236}">
                <a16:creationId xmlns:a16="http://schemas.microsoft.com/office/drawing/2014/main" id="{D908F5DA-B1FC-44AF-85F8-E17DA243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243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What the numbers mean</a:t>
            </a:r>
          </a:p>
        </p:txBody>
      </p:sp>
      <p:sp>
        <p:nvSpPr>
          <p:cNvPr id="18" name="proof-note-body">
            <a:extLst xmlns:a="http://schemas.openxmlformats.org/drawingml/2006/main">
              <a:ext uri="{FF2B5EF4-FFF2-40B4-BE49-F238E27FC236}">
                <a16:creationId xmlns:a16="http://schemas.microsoft.com/office/drawing/2014/main" id="{7ADB6AB4-1B33-400D-8696-9E7B607C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625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2A43"/>
                </a:solidFill>
              </a:defRPr>
            </a:pPr>
            <a:r>
              <a:rPr sz="1350">
                <a:solidFill>
                  <a:srgbClr val="102A43"/>
                </a:solidFill>
              </a:rPr>
              <a:t>27/27 measures known-indicator coverage - not universal legal accuracy. NEW results are candidates for policy review, with source text, confidence, and notes kept visible.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CEF9F43-DC54-463C-AB46-B8953A24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0" name="footer">
            <a:extLst xmlns:a="http://schemas.openxmlformats.org/drawingml/2006/main">
              <a:ext uri="{FF2B5EF4-FFF2-40B4-BE49-F238E27FC236}">
                <a16:creationId xmlns:a16="http://schemas.microsoft.com/office/drawing/2014/main" id="{C391776D-2B72-4007-9C93-A2016E88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913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06D"/>
                </a:solidFill>
              </a:defRPr>
            </a:pPr>
            <a:r>
              <a:rPr sz="825">
                <a:solidFill>
                  <a:srgbClr val="52606D"/>
                </a:solidFill>
              </a:rPr>
              <a:t>Galaxefi · UN Global Hackathon · 3 August 2026</a:t>
            </a:r>
          </a:p>
        </p:txBody>
      </p:sp>
      <p:sp>
        <p:nvSpPr>
          <p:cNvPr id="21" name="page">
            <a:extLst xmlns:a="http://schemas.openxmlformats.org/drawingml/2006/main">
              <a:ext uri="{FF2B5EF4-FFF2-40B4-BE49-F238E27FC236}">
                <a16:creationId xmlns:a16="http://schemas.microsoft.com/office/drawing/2014/main" id="{7F2E7AAB-3D0E-43BD-99DA-EE7D5911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479FF"/>
                </a:solidFill>
              </a:defRPr>
            </a:pPr>
            <a:r>
              <a:rPr sz="900" b="1">
                <a:solidFill>
                  <a:srgbClr val="1479FF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311013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losing-kicker">
            <a:extLst xmlns:a="http://schemas.openxmlformats.org/drawingml/2006/main">
              <a:ext uri="{FF2B5EF4-FFF2-40B4-BE49-F238E27FC236}">
                <a16:creationId xmlns:a16="http://schemas.microsoft.com/office/drawing/2014/main" id="{0F786E6D-A8F8-42C0-9F09-CFB75F99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2C7D9"/>
                </a:solidFill>
              </a:defRPr>
            </a:pPr>
            <a:r>
              <a:rPr sz="1125" b="1">
                <a:solidFill>
                  <a:srgbClr val="22C7D9"/>
                </a:solidFill>
              </a:rPr>
              <a:t>THE TAKEAWAY</a:t>
            </a:r>
          </a:p>
        </p:txBody>
      </p:sp>
      <p:sp>
        <p:nvSpPr>
          <p:cNvPr id="2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CAC4DF39-F9C6-4279-8285-AD098D08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8572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We automate evidence preparation,</a:t>
            </a:r>
          </a:p>
          <a:p xmlns:a="http://schemas.openxmlformats.org/drawingml/2006/main">
            <a:pPr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not legal judgment.</a:t>
            </a:r>
          </a:p>
        </p:txBody>
      </p:sp>
      <p:sp>
        <p:nvSpPr>
          <p:cNvPr id="3" name="closing-line">
            <a:extLst xmlns:a="http://schemas.openxmlformats.org/drawingml/2006/main">
              <a:ext uri="{FF2B5EF4-FFF2-40B4-BE49-F238E27FC236}">
                <a16:creationId xmlns:a16="http://schemas.microsoft.com/office/drawing/2014/main" id="{DFF1A9DE-7202-44DF-B7CE-18D57C5B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D9F3FF"/>
                </a:solidFill>
              </a:defRPr>
            </a:pPr>
            <a:r>
              <a:rPr sz="1575">
                <a:solidFill>
                  <a:srgbClr val="D9F3FF"/>
                </a:solidFill>
              </a:rPr>
              <a:t>Official source  →  exact provision  →  RDTII indicator  →  reviewer-ready output</a:t>
            </a:r>
          </a:p>
        </p:txBody>
      </p:sp>
      <p:sp>
        <p:nvSpPr>
          <p:cNvPr id="4" name="close-0">
            <a:extLst xmlns:a="http://schemas.openxmlformats.org/drawingml/2006/main">
              <a:ext uri="{FF2B5EF4-FFF2-40B4-BE49-F238E27FC236}">
                <a16:creationId xmlns:a16="http://schemas.microsoft.com/office/drawing/2014/main" id="{8B0B0FC0-8B51-4771-AA9C-33A198CF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28956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479FF"/>
          </a:solidFill>
          <a:ln xmlns:a="http://schemas.openxmlformats.org/drawingml/2006/main" w="0">
            <a:solidFill>
              <a:srgbClr val="1479FF"/>
            </a:solidFill>
            <a:prstDash val="solid"/>
          </a:ln>
        </p:spPr>
      </p:sp>
      <p:sp>
        <p:nvSpPr>
          <p:cNvPr id="5" name="close-head-0">
            <a:extLst xmlns:a="http://schemas.openxmlformats.org/drawingml/2006/main">
              <a:ext uri="{FF2B5EF4-FFF2-40B4-BE49-F238E27FC236}">
                <a16:creationId xmlns:a16="http://schemas.microsoft.com/office/drawing/2014/main" id="{7D3A6464-4283-4CA8-9F3B-0B859D7E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7195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FASTER</a:t>
            </a:r>
          </a:p>
        </p:txBody>
      </p:sp>
      <p:sp>
        <p:nvSpPr>
          <p:cNvPr id="6" name="close-body-0">
            <a:extLst xmlns:a="http://schemas.openxmlformats.org/drawingml/2006/main">
              <a:ext uri="{FF2B5EF4-FFF2-40B4-BE49-F238E27FC236}">
                <a16:creationId xmlns:a16="http://schemas.microsoft.com/office/drawing/2014/main" id="{0C000A0E-EDCD-45F6-83A3-99C42017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3390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Less manual discovery</a:t>
            </a:r>
          </a:p>
        </p:txBody>
      </p:sp>
      <p:sp>
        <p:nvSpPr>
          <p:cNvPr id="7" name="close-1">
            <a:extLst xmlns:a="http://schemas.openxmlformats.org/drawingml/2006/main">
              <a:ext uri="{FF2B5EF4-FFF2-40B4-BE49-F238E27FC236}">
                <a16:creationId xmlns:a16="http://schemas.microsoft.com/office/drawing/2014/main" id="{67AA0225-846B-494F-870C-13F0C48E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943350"/>
            <a:ext cx="28956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22C7D9"/>
          </a:solidFill>
          <a:ln xmlns:a="http://schemas.openxmlformats.org/drawingml/2006/main" w="0">
            <a:solidFill>
              <a:srgbClr val="22C7D9"/>
            </a:solidFill>
            <a:prstDash val="solid"/>
          </a:ln>
        </p:spPr>
      </p:sp>
      <p:sp>
        <p:nvSpPr>
          <p:cNvPr id="8" name="close-head-1">
            <a:extLst xmlns:a="http://schemas.openxmlformats.org/drawingml/2006/main">
              <a:ext uri="{FF2B5EF4-FFF2-40B4-BE49-F238E27FC236}">
                <a16:creationId xmlns:a16="http://schemas.microsoft.com/office/drawing/2014/main" id="{AC140866-FC2A-4001-84FF-B0569225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17195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AUDITABLE</a:t>
            </a:r>
          </a:p>
        </p:txBody>
      </p:sp>
      <p:sp>
        <p:nvSpPr>
          <p:cNvPr id="9" name="close-body-1">
            <a:extLst xmlns:a="http://schemas.openxmlformats.org/drawingml/2006/main">
              <a:ext uri="{FF2B5EF4-FFF2-40B4-BE49-F238E27FC236}">
                <a16:creationId xmlns:a16="http://schemas.microsoft.com/office/drawing/2014/main" id="{54A67730-6561-4948-AF67-F779AEF8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Evidence stays visible</a:t>
            </a:r>
          </a:p>
        </p:txBody>
      </p:sp>
      <p:sp>
        <p:nvSpPr>
          <p:cNvPr id="10" name="close-2">
            <a:extLst xmlns:a="http://schemas.openxmlformats.org/drawingml/2006/main">
              <a:ext uri="{FF2B5EF4-FFF2-40B4-BE49-F238E27FC236}">
                <a16:creationId xmlns:a16="http://schemas.microsoft.com/office/drawing/2014/main" id="{54A6CCA7-82B0-4F41-A281-3FD8FE28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943350"/>
            <a:ext cx="28956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479FF"/>
          </a:solidFill>
          <a:ln xmlns:a="http://schemas.openxmlformats.org/drawingml/2006/main" w="0">
            <a:solidFill>
              <a:srgbClr val="1479FF"/>
            </a:solidFill>
            <a:prstDash val="solid"/>
          </a:ln>
        </p:spPr>
      </p:sp>
      <p:sp>
        <p:nvSpPr>
          <p:cNvPr id="11" name="close-head-2">
            <a:extLst xmlns:a="http://schemas.openxmlformats.org/drawingml/2006/main">
              <a:ext uri="{FF2B5EF4-FFF2-40B4-BE49-F238E27FC236}">
                <a16:creationId xmlns:a16="http://schemas.microsoft.com/office/drawing/2014/main" id="{DE7B6D13-87D7-4720-9B54-57E99269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7195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SCALABLE</a:t>
            </a:r>
          </a:p>
        </p:txBody>
      </p:sp>
      <p:sp>
        <p:nvSpPr>
          <p:cNvPr id="12" name="close-body-2">
            <a:extLst xmlns:a="http://schemas.openxmlformats.org/drawingml/2006/main">
              <a:ext uri="{FF2B5EF4-FFF2-40B4-BE49-F238E27FC236}">
                <a16:creationId xmlns:a16="http://schemas.microsoft.com/office/drawing/2014/main" id="{A8ACDE1E-4252-454B-ABD0-F4A7DF96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3390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More economies via config</a:t>
            </a:r>
          </a:p>
        </p:txBody>
      </p:sp>
      <p:sp>
        <p:nvSpPr>
          <p:cNvPr id="13" name="closing-proof">
            <a:extLst xmlns:a="http://schemas.openxmlformats.org/drawingml/2006/main">
              <a:ext uri="{FF2B5EF4-FFF2-40B4-BE49-F238E27FC236}">
                <a16:creationId xmlns:a16="http://schemas.microsoft.com/office/drawing/2014/main" id="{1EDA1161-5A84-4EB0-B115-736C4E8D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C7D9"/>
                </a:solidFill>
              </a:defRPr>
            </a:pPr>
            <a:r>
              <a:rPr sz="1650" b="1">
                <a:solidFill>
                  <a:srgbClr val="22C7D9"/>
                </a:solidFill>
              </a:rPr>
              <a:t>27/27 known checks · $0.43 recorded run cost</a:t>
            </a:r>
          </a:p>
        </p:txBody>
      </p:sp>
      <p:sp>
        <p:nvSpPr>
          <p:cNvPr id="14" name="questions">
            <a:extLst xmlns:a="http://schemas.openxmlformats.org/drawingml/2006/main">
              <a:ext uri="{FF2B5EF4-FFF2-40B4-BE49-F238E27FC236}">
                <a16:creationId xmlns:a16="http://schemas.microsoft.com/office/drawing/2014/main" id="{91E8ACE2-CC3E-495F-8BFB-12A1A338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4292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22C7D9"/>
                </a:solidFill>
              </a:defRPr>
            </a:pPr>
            <a:r>
              <a:rPr sz="2250" b="1">
                <a:solidFill>
                  <a:srgbClr val="22C7D9"/>
                </a:solidFill>
              </a:rPr>
              <a:t>Questions</a:t>
            </a:r>
          </a:p>
        </p:txBody>
      </p:sp>
      <p:sp>
        <p:nvSpPr>
          <p:cNvPr id="15" name="closing-date">
            <a:extLst xmlns:a="http://schemas.openxmlformats.org/drawingml/2006/main">
              <a:ext uri="{FF2B5EF4-FFF2-40B4-BE49-F238E27FC236}">
                <a16:creationId xmlns:a16="http://schemas.microsoft.com/office/drawing/2014/main" id="{374CEA92-58BD-4DD4-8B1E-0F2EC7DE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8D7F2"/>
                </a:solidFill>
              </a:defRPr>
            </a:pPr>
            <a:r>
              <a:rPr sz="1050">
                <a:solidFill>
                  <a:srgbClr val="B8D7F2"/>
                </a:solidFill>
              </a:rPr>
              <a:t>Galaxefi · 3 August 2026</a:t>
            </a:r>
          </a:p>
        </p:txBody>
      </p:sp>
    </p:spTree>
    <p:extLst>
      <p:ext uri="{BB962C8B-B14F-4D97-AF65-F5344CB8AC3E}">
        <p14:creationId xmlns:p14="http://schemas.microsoft.com/office/powerpoint/2010/main" val="842286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2026-08-01T10:28:39.6610000Z</dcterms:created>
  <dcterms:modified xsi:type="dcterms:W3CDTF">2026-08-01T10:28:39.6610000Z</dcterms:modified>
</coreProperties>
</file>