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9b84cc0b9c47f7" /><Relationship Type="http://schemas.openxmlformats.org/officeDocument/2006/relationships/extended-properties" Target="/docProps/app.xml" Id="R95873e39d4f04d2b" /><Relationship Type="http://schemas.openxmlformats.org/officeDocument/2006/relationships/officeDocument" Target="/ppt/presentation.xml" Id="Rc3ac1ab33aa247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4f351a4fc24778"/>
  </p:sldMasterIdLst>
  <p:notesMasterIdLst>
    <p:notesMasterId xmlns:r="http://schemas.openxmlformats.org/officeDocument/2006/relationships" r:id="Rfd802e2091ef473c"/>
  </p:notesMasterIdLst>
  <p:sldIdLst>
    <p:sldId xmlns:r="http://schemas.openxmlformats.org/officeDocument/2006/relationships" id="256" r:id="R682debfea7964918"/>
    <p:sldId xmlns:r="http://schemas.openxmlformats.org/officeDocument/2006/relationships" id="257" r:id="R127ca6b7a0ba415d"/>
    <p:sldId xmlns:r="http://schemas.openxmlformats.org/officeDocument/2006/relationships" id="258" r:id="R5d9fca307c78488f"/>
    <p:sldId xmlns:r="http://schemas.openxmlformats.org/officeDocument/2006/relationships" id="259" r:id="R2d12b6bbdce04a06"/>
    <p:sldId xmlns:r="http://schemas.openxmlformats.org/officeDocument/2006/relationships" id="260" r:id="Ra20435862e424399"/>
    <p:sldId xmlns:r="http://schemas.openxmlformats.org/officeDocument/2006/relationships" id="261" r:id="R0b91b91f6b614111"/>
    <p:sldId xmlns:r="http://schemas.openxmlformats.org/officeDocument/2006/relationships" id="262" r:id="R940dd64faee54e15"/>
    <p:sldId xmlns:r="http://schemas.openxmlformats.org/officeDocument/2006/relationships" id="263" r:id="R57b9c1b9d31f49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8de27dcb294c81" /><Relationship Type="http://schemas.openxmlformats.org/officeDocument/2006/relationships/slideMaster" Target="/ppt/slideMasters/slideMaster1.xml" Id="R5c4f351a4fc24778" /><Relationship Type="http://schemas.openxmlformats.org/officeDocument/2006/relationships/notesMaster" Target="/ppt/notesMasters/notesMaster1.xml" Id="Rfd802e2091ef473c" /><Relationship Type="http://schemas.openxmlformats.org/officeDocument/2006/relationships/presProps" Target="/ppt/presProps.xml" Id="Rf13531db9e6a4bc7" /><Relationship Type="http://schemas.openxmlformats.org/officeDocument/2006/relationships/tableStyles" Target="/ppt/tableStyles.xml" Id="R8df06099f12a4884" /><Relationship Type="http://schemas.openxmlformats.org/officeDocument/2006/relationships/slide" Target="/ppt/slides/slide1.xml" Id="R682debfea7964918" /><Relationship Type="http://schemas.openxmlformats.org/officeDocument/2006/relationships/slide" Target="/ppt/slides/slide2.xml" Id="R127ca6b7a0ba415d" /><Relationship Type="http://schemas.openxmlformats.org/officeDocument/2006/relationships/slide" Target="/ppt/slides/slide3.xml" Id="R5d9fca307c78488f" /><Relationship Type="http://schemas.openxmlformats.org/officeDocument/2006/relationships/slide" Target="/ppt/slides/slide4.xml" Id="R2d12b6bbdce04a06" /><Relationship Type="http://schemas.openxmlformats.org/officeDocument/2006/relationships/slide" Target="/ppt/slides/slide5.xml" Id="Ra20435862e424399" /><Relationship Type="http://schemas.openxmlformats.org/officeDocument/2006/relationships/slide" Target="/ppt/slides/slide6.xml" Id="R0b91b91f6b614111" /><Relationship Type="http://schemas.openxmlformats.org/officeDocument/2006/relationships/slide" Target="/ppt/slides/slide7.xml" Id="R940dd64faee54e15" /><Relationship Type="http://schemas.openxmlformats.org/officeDocument/2006/relationships/slide" Target="/ppt/slides/slide8.xml" Id="R57b9c1b9d31f49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e7b565daa848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d8a4a9bf0141ec" /><Relationship Type="http://schemas.openxmlformats.org/officeDocument/2006/relationships/notesMaster" Target="/ppt/notesMasters/notesMaster1.xml" Id="R66d3a70787a146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8c0675ac834b6b" /><Relationship Type="http://schemas.openxmlformats.org/officeDocument/2006/relationships/notesMaster" Target="/ppt/notesMasters/notesMaster1.xml" Id="Rc07fe29614044e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16b0cabd6b400b" /><Relationship Type="http://schemas.openxmlformats.org/officeDocument/2006/relationships/notesMaster" Target="/ppt/notesMasters/notesMaster1.xml" Id="R297e4081b71549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c9d7c3b1e84802" /><Relationship Type="http://schemas.openxmlformats.org/officeDocument/2006/relationships/notesMaster" Target="/ppt/notesMasters/notesMaster1.xml" Id="Re5449bc9e24943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4e0e223f304a35" /><Relationship Type="http://schemas.openxmlformats.org/officeDocument/2006/relationships/notesMaster" Target="/ppt/notesMasters/notesMaster1.xml" Id="Ree31ac636cb74b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965204c1504acb" /><Relationship Type="http://schemas.openxmlformats.org/officeDocument/2006/relationships/notesMaster" Target="/ppt/notesMasters/notesMaster1.xml" Id="R76da237cc1224d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a4eea4b9b540d1" /><Relationship Type="http://schemas.openxmlformats.org/officeDocument/2006/relationships/notesMaster" Target="/ppt/notesMasters/notesMaster1.xml" Id="Rbec9ddcbf59741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256706ca024733" /><Relationship Type="http://schemas.openxmlformats.org/officeDocument/2006/relationships/notesMaster" Target="/ppt/notesMasters/notesMaster1.xml" Id="R4b68d20fd0424c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0:00-0:50. Open with the manual research bottleneck, then state the evidence: 27 of 27 known indicator checks recovered. Say 'known-indicator coverage', not '100% legal accuracy'.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evaluate.py run against outputs/*_2026-07-17*.csv</a:t>
            </a:r>
          </a:p>
          <a:p xmlns:a="http://schemas.openxmlformats.org/drawingml/2006/main">
            <a:r>
              <a:t>- logs/cost_report.json</a:t>
            </a:r>
          </a:p>
          <a:p xmlns:a="http://schemas.openxmlformats.org/drawingml/2006/main">
            <a:r>
              <a:t>- Pitching Rules.pdf, presentation timing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0:50-1:20. Spend no more than 30 seconds: Zone 1 discovers and tags evidence; Zone 2 reads, retrieves, maps, validates, and writes. Do not explain modules.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CONTEXT.md</a:t>
            </a:r>
          </a:p>
          <a:p xmlns:a="http://schemas.openxmlformats.org/drawingml/2006/main">
            <a:r>
              <a:t>- docs/RDTII_Pipeline_Architecture.md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1:20-3:10. Spend about 25 seconds per differentiator. Clarify that eight tiers are supported, while one provider is pinned per run for consistency and auditability.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CONTEXT.md, ADR-021 and LLM providers</a:t>
            </a:r>
          </a:p>
          <a:p xmlns:a="http://schemas.openxmlformats.org/drawingml/2006/main">
            <a:r>
              <a:t>- logs/cost_report.json</a:t>
            </a:r>
          </a:p>
          <a:p xmlns:a="http://schemas.openxmlformats.org/drawingml/2006/main">
            <a:r>
              <a:t>- economies/*.yaml</a:t>
            </a:r>
          </a:p>
          <a:p xmlns:a="http://schemas.openxmlformats.org/drawingml/2006/main">
            <a:r>
              <a:t>- evaluate.py NEW-provision evaluation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3:10-5:30. Show the archived official PDPA text and the two selected output rows: NEW P7-I3 Section 50(4), confidence 0.92; KNOWN P7-I4 Section 11(3), confidence 0.98. The completed online run took 9:37, so show its prepared CSV/JSON rather than starting a full run during the pitch.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outputs/Singapore_P7_2026-08-01T102134.csv</a:t>
            </a:r>
          </a:p>
          <a:p xmlns:a="http://schemas.openxmlformats.org/drawingml/2006/main">
            <a:r>
              <a:t>- outputs/Singapore_P7_2026-08-01T102134.json</a:t>
            </a:r>
          </a:p>
          <a:p xmlns:a="http://schemas.openxmlformats.org/drawingml/2006/main">
            <a:r>
              <a:t>- outputs/archive/Act_PDPA2012_WholeDoc_1.html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5:30-6:40. State the measured results and define them carefully. The six current evaluator runs report 27/27 known indicator checks and 73 NEW candidates. The latest Singapore P7 cost report records $0.430863 in model usage.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evaluate.py outputs for SG/AU/MY P6/P7</a:t>
            </a:r>
          </a:p>
          <a:p xmlns:a="http://schemas.openxmlformats.org/drawingml/2006/main">
            <a:r>
              <a:t>- logs/cost_report.json</a:t>
            </a:r>
          </a:p>
          <a:p xmlns:a="http://schemas.openxmlformats.org/drawingml/2006/main">
            <a:r>
              <a:t>- outputs/Singapore_P7_2026-08-01T102134.csv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6:40-7:25. Deliver the final line: the engine removes the expensive evidence-preparation bottleneck while keeping legal judgment and evidence review visible. Stop by 7:25-7:30.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Pitching Rules.pdf, seven-minute warning and eight-minute mute</a:t>
            </a:r>
          </a:p>
          <a:p xmlns:a="http://schemas.openxmlformats.org/drawingml/2006/main">
            <a:r>
              <a:t>- evaluate.py evaluator outputs</a:t>
            </a:r>
          </a:p>
          <a:p xmlns:a="http://schemas.openxmlformats.org/drawingml/2006/main">
            <a:r>
              <a:t>- logs/cost_report.json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detail. Use when judges ask how economy configuration and source discovery feed the mapping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docs/RDTII_Pipeline_Architecture.jpg</a:t>
            </a:r>
          </a:p>
          <a:p xmlns:a="http://schemas.openxmlformats.org/drawingml/2006/main">
            <a:r>
              <a:t>- docs/RDTII_Pipeline_Architecture.md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detail. Use when judges ask how document-level mapping loops into cross-document cleanup, the optional quality gate, and final CSV/JSON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docs/RDTII_Pipeline_Architecture.jpg</a:t>
            </a:r>
          </a:p>
          <a:p xmlns:a="http://schemas.openxmlformats.org/drawingml/2006/main">
            <a:r>
              <a:t>- docs/RDTII_Pipeline_Architecture.md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c13a47212046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ccecc3de904b9f" /><Relationship Type="http://schemas.openxmlformats.org/officeDocument/2006/relationships/slideLayout" Target="/ppt/slideLayouts/slideLayout1.xml" Id="R59df1aef8ee143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df1aef8ee143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1290311404a6b" /><Relationship Type="http://schemas.openxmlformats.org/officeDocument/2006/relationships/notesSlide" Target="/ppt/notesSlides/notesSlide1.xml" Id="Re2c74aed479340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20e9e7ce54025" /><Relationship Type="http://schemas.openxmlformats.org/officeDocument/2006/relationships/notesSlide" Target="/ppt/notesSlides/notesSlide2.xml" Id="Rd2e41b35cd664c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2b8bd3fdd44fd" /><Relationship Type="http://schemas.openxmlformats.org/officeDocument/2006/relationships/notesSlide" Target="/ppt/notesSlides/notesSlide3.xml" Id="R15c37bee87ac4c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4520bf8204de5" /><Relationship Type="http://schemas.openxmlformats.org/officeDocument/2006/relationships/notesSlide" Target="/ppt/notesSlides/notesSlide4.xml" Id="R07bafde7f65a47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b24658e5d49d5" /><Relationship Type="http://schemas.openxmlformats.org/officeDocument/2006/relationships/notesSlide" Target="/ppt/notesSlides/notesSlide5.xml" Id="R7468fafd80e54b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1de9e68744ccf" /><Relationship Type="http://schemas.openxmlformats.org/officeDocument/2006/relationships/notesSlide" Target="/ppt/notesSlides/notesSlide6.xml" Id="R2d3edf394ed64c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33a4c7a884da4" /><Relationship Type="http://schemas.openxmlformats.org/officeDocument/2006/relationships/image" Target="/ppt/media/image.jpeg" Id="R3133c2d83c5d476d" /><Relationship Type="http://schemas.openxmlformats.org/officeDocument/2006/relationships/notesSlide" Target="/ppt/notesSlides/notesSlide7.xml" Id="Reb186e42f06649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d22d0cb054643" /><Relationship Type="http://schemas.openxmlformats.org/officeDocument/2006/relationships/image" Target="/ppt/media/image2.jpeg" Id="R5856e02dd82e439b" /><Relationship Type="http://schemas.openxmlformats.org/officeDocument/2006/relationships/notesSlide" Target="/ppt/notesSlides/notesSlide8.xml" Id="Rf0237cc9e0f84f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52ED80A-3EC3-4E4B-B8E6-3C6E36A3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" name="orb-blue">
            <a:extLst xmlns:a="http://schemas.openxmlformats.org/drawingml/2006/main">
              <a:ext uri="{FF2B5EF4-FFF2-40B4-BE49-F238E27FC236}">
                <a16:creationId xmlns:a16="http://schemas.microsoft.com/office/drawing/2014/main" id="{C336EDC9-546F-4778-B369-C9C4651B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9FF"/>
          </a:solidFill>
          <a:ln xmlns:a="http://schemas.openxmlformats.org/drawingml/2006/main" w="0">
            <a:solidFill>
              <a:srgbClr val="1479FF"/>
            </a:solidFill>
            <a:prstDash val="solid"/>
          </a:ln>
        </p:spPr>
      </p:sp>
      <p:sp>
        <p:nvSpPr>
          <p:cNvPr id="3" name="orb-cyan">
            <a:extLst xmlns:a="http://schemas.openxmlformats.org/drawingml/2006/main">
              <a:ext uri="{FF2B5EF4-FFF2-40B4-BE49-F238E27FC236}">
                <a16:creationId xmlns:a16="http://schemas.microsoft.com/office/drawing/2014/main" id="{66184F64-7B4C-4CDE-A16B-5C9B327E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33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9"/>
          </a:solidFill>
          <a:ln xmlns:a="http://schemas.openxmlformats.org/drawingml/2006/main" w="0">
            <a:solidFill>
              <a:srgbClr val="22C7D9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BBFBDEA-150A-4EB7-A71B-FAC414B4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2C7D9"/>
                </a:solidFill>
              </a:defRPr>
            </a:pPr>
            <a:r>
              <a:rPr sz="1200" b="1">
                <a:solidFill>
                  <a:srgbClr val="22C7D9"/>
                </a:solidFill>
              </a:rPr>
              <a:t>RDTII EXTRACTION ENGINE · LIVE PITCH</a:t>
            </a:r>
          </a:p>
        </p:txBody>
      </p:sp>
      <p:sp>
        <p:nvSpPr>
          <p:cNvPr id="5" name="hero-number">
            <a:extLst xmlns:a="http://schemas.openxmlformats.org/drawingml/2006/main">
              <a:ext uri="{FF2B5EF4-FFF2-40B4-BE49-F238E27FC236}">
                <a16:creationId xmlns:a16="http://schemas.microsoft.com/office/drawing/2014/main" id="{F7CA7400-AEA8-4718-B57F-7FB923CC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27 / 27</a:t>
            </a:r>
          </a:p>
        </p:txBody>
      </p:sp>
      <p:sp>
        <p:nvSpPr>
          <p:cNvPr id="6" name="hero-title">
            <a:extLst xmlns:a="http://schemas.openxmlformats.org/drawingml/2006/main">
              <a:ext uri="{FF2B5EF4-FFF2-40B4-BE49-F238E27FC236}">
                <a16:creationId xmlns:a16="http://schemas.microsoft.com/office/drawing/2014/main" id="{EC90D25D-BDD8-4AE5-874B-0FDBE6C5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known indicator checks recovered</a:t>
            </a:r>
          </a:p>
        </p:txBody>
      </p:sp>
      <p:sp>
        <p:nvSpPr>
          <p:cNvPr id="7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453EDD79-2649-4141-B52B-4B5B19D0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9F3FF"/>
                </a:solidFill>
              </a:defRPr>
            </a:pPr>
            <a:r>
              <a:rPr sz="1650">
                <a:solidFill>
                  <a:srgbClr val="D9F3FF"/>
                </a:solidFill>
              </a:rPr>
              <a:t>Across six Singapore, Australia, and Malaysia runs against the Round 1 reference set.</a:t>
            </a:r>
          </a:p>
        </p:txBody>
      </p:sp>
      <p:sp>
        <p:nvSpPr>
          <p:cNvPr id="8" name="hero-callout">
            <a:extLst xmlns:a="http://schemas.openxmlformats.org/drawingml/2006/main">
              <a:ext uri="{FF2B5EF4-FFF2-40B4-BE49-F238E27FC236}">
                <a16:creationId xmlns:a16="http://schemas.microsoft.com/office/drawing/2014/main" id="{B167A9DE-96F6-4C8C-AC8A-46D68E48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4762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345B"/>
          </a:solidFill>
          <a:ln xmlns:a="http://schemas.openxmlformats.org/drawingml/2006/main" w="9525">
            <a:solidFill>
              <a:srgbClr val="2F5E91"/>
            </a:solidFill>
            <a:prstDash val="solid"/>
          </a:ln>
        </p:spPr>
      </p:sp>
      <p:sp>
        <p:nvSpPr>
          <p:cNvPr id="9" name="hero-callout-text">
            <a:extLst xmlns:a="http://schemas.openxmlformats.org/drawingml/2006/main">
              <a:ext uri="{FF2B5EF4-FFF2-40B4-BE49-F238E27FC236}">
                <a16:creationId xmlns:a16="http://schemas.microsoft.com/office/drawing/2014/main" id="{8E87C348-FEAE-4446-832A-F4372F37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91050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$0.43 recorded Singapore P7 model cost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Source → provision → RDTII output</a:t>
            </a:r>
          </a:p>
        </p:txBody>
      </p:sp>
      <p:sp>
        <p:nvSpPr>
          <p:cNvPr id="10" name="date">
            <a:extLst xmlns:a="http://schemas.openxmlformats.org/drawingml/2006/main">
              <a:ext uri="{FF2B5EF4-FFF2-40B4-BE49-F238E27FC236}">
                <a16:creationId xmlns:a16="http://schemas.microsoft.com/office/drawing/2014/main" id="{562C80CB-DAE0-4489-917E-54D04E1D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7F2"/>
                </a:solidFill>
              </a:defRPr>
            </a:pPr>
            <a:r>
              <a:rPr sz="1050">
                <a:solidFill>
                  <a:srgbClr val="B8D7F2"/>
                </a:solidFill>
              </a:rPr>
              <a:t>Galaxefi  |  3 August 2026</a:t>
            </a:r>
          </a:p>
        </p:txBody>
      </p:sp>
    </p:spTree>
    <p:extLst>
      <p:ext uri="{BB962C8B-B14F-4D97-AF65-F5344CB8AC3E}">
        <p14:creationId xmlns:p14="http://schemas.microsoft.com/office/powerpoint/2010/main" val="769546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D42BFA10-76C5-4316-9562-C03279A0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9FF"/>
                </a:solidFill>
              </a:defRPr>
            </a:pPr>
            <a:r>
              <a:rPr sz="1050" b="1">
                <a:solidFill>
                  <a:srgbClr val="1479FF"/>
                </a:solidFill>
              </a:rPr>
              <a:t>ARCHITECTURE IN 30 SECONDS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1E7E4A4-E1F4-4C2D-AF24-67118859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Two zones turn scattered laws into auditable evidence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3FF6666-793F-4CDD-90D9-C558AEBF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The architecture separates evidence discovery from legal mapping and output validation.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8EB4E0BB-895D-464B-BB36-A1919D54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Economy + pillar</a:t>
            </a:r>
          </a:p>
        </p:txBody>
      </p:sp>
      <p:sp>
        <p:nvSpPr>
          <p:cNvPr id="5" name="input-arrow">
            <a:extLst xmlns:a="http://schemas.openxmlformats.org/drawingml/2006/main">
              <a:ext uri="{FF2B5EF4-FFF2-40B4-BE49-F238E27FC236}">
                <a16:creationId xmlns:a16="http://schemas.microsoft.com/office/drawing/2014/main" id="{C4C2F674-6731-4BCE-B53E-E29B267A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908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479FF"/>
                </a:solidFill>
              </a:defRPr>
            </a:pPr>
            <a:r>
              <a:rPr sz="2850" b="1">
                <a:solidFill>
                  <a:srgbClr val="1479FF"/>
                </a:solidFill>
              </a:rPr>
              <a:t>→</a:t>
            </a:r>
          </a:p>
        </p:txBody>
      </p:sp>
      <p:sp>
        <p:nvSpPr>
          <p:cNvPr id="6" name="zone1">
            <a:extLst xmlns:a="http://schemas.openxmlformats.org/drawingml/2006/main">
              <a:ext uri="{FF2B5EF4-FFF2-40B4-BE49-F238E27FC236}">
                <a16:creationId xmlns:a16="http://schemas.microsoft.com/office/drawing/2014/main" id="{2E8F2F27-8C4C-45B7-9EB1-FF6F32F7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336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7" name="zone1-kicker">
            <a:extLst xmlns:a="http://schemas.openxmlformats.org/drawingml/2006/main">
              <a:ext uri="{FF2B5EF4-FFF2-40B4-BE49-F238E27FC236}">
                <a16:creationId xmlns:a16="http://schemas.microsoft.com/office/drawing/2014/main" id="{F1B2296F-BFED-417B-824A-83C99024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19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2C7D9"/>
                </a:solidFill>
              </a:defRPr>
            </a:pPr>
            <a:r>
              <a:rPr sz="1125" b="1">
                <a:solidFill>
                  <a:srgbClr val="22C7D9"/>
                </a:solidFill>
              </a:rPr>
              <a:t>ZONE 1</a:t>
            </a:r>
          </a:p>
        </p:txBody>
      </p:sp>
      <p:sp>
        <p:nvSpPr>
          <p:cNvPr id="8" name="zone1-title">
            <a:extLst xmlns:a="http://schemas.openxmlformats.org/drawingml/2006/main">
              <a:ext uri="{FF2B5EF4-FFF2-40B4-BE49-F238E27FC236}">
                <a16:creationId xmlns:a16="http://schemas.microsoft.com/office/drawing/2014/main" id="{5D9429ED-9B45-4F6D-8B2A-1241D80E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0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Evidence discovery</a:t>
            </a:r>
          </a:p>
        </p:txBody>
      </p:sp>
      <p:sp>
        <p:nvSpPr>
          <p:cNvPr id="9" name="zone1-body">
            <a:extLst xmlns:a="http://schemas.openxmlformats.org/drawingml/2006/main">
              <a:ext uri="{FF2B5EF4-FFF2-40B4-BE49-F238E27FC236}">
                <a16:creationId xmlns:a16="http://schemas.microsoft.com/office/drawing/2014/main" id="{5B81F998-22EC-42F8-BCB2-081A598C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718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9F3FF"/>
                </a:solidFill>
              </a:defRPr>
            </a:pPr>
            <a:r>
              <a:rPr sz="1425">
                <a:solidFill>
                  <a:srgbClr val="D9F3FF"/>
                </a:solidFill>
              </a:rPr>
              <a:t>Official portals</a:t>
            </a:r>
          </a:p>
          <a:p xmlns:a="http://schemas.openxmlformats.org/drawingml/2006/main">
            <a:pPr>
              <a:defRPr sz="1425">
                <a:solidFill>
                  <a:srgbClr val="D9F3FF"/>
                </a:solidFill>
              </a:defRPr>
            </a:pPr>
            <a:r>
              <a:rPr sz="1425">
                <a:solidFill>
                  <a:srgbClr val="D9F3FF"/>
                </a:solidFill>
              </a:rPr>
              <a:t>Rank + exclude</a:t>
            </a:r>
          </a:p>
          <a:p xmlns:a="http://schemas.openxmlformats.org/drawingml/2006/main">
            <a:pPr>
              <a:defRPr sz="1425">
                <a:solidFill>
                  <a:srgbClr val="D9F3FF"/>
                </a:solidFill>
              </a:defRPr>
            </a:pPr>
            <a:r>
              <a:rPr sz="1425">
                <a:solidFill>
                  <a:srgbClr val="D9F3FF"/>
                </a:solidFill>
              </a:rPr>
              <a:t>KNOWN / NEW</a:t>
            </a:r>
          </a:p>
        </p:txBody>
      </p:sp>
      <p:sp>
        <p:nvSpPr>
          <p:cNvPr id="10" name="zone-arrow">
            <a:extLst xmlns:a="http://schemas.openxmlformats.org/drawingml/2006/main">
              <a:ext uri="{FF2B5EF4-FFF2-40B4-BE49-F238E27FC236}">
                <a16:creationId xmlns:a16="http://schemas.microsoft.com/office/drawing/2014/main" id="{5932A552-C225-4DD6-805B-0F1A08A4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908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479FF"/>
                </a:solidFill>
              </a:defRPr>
            </a:pPr>
            <a:r>
              <a:rPr sz="3000" b="1">
                <a:solidFill>
                  <a:srgbClr val="1479FF"/>
                </a:solidFill>
              </a:rPr>
              <a:t>→</a:t>
            </a:r>
          </a:p>
        </p:txBody>
      </p:sp>
      <p:sp>
        <p:nvSpPr>
          <p:cNvPr id="11" name="zone2">
            <a:extLst xmlns:a="http://schemas.openxmlformats.org/drawingml/2006/main">
              <a:ext uri="{FF2B5EF4-FFF2-40B4-BE49-F238E27FC236}">
                <a16:creationId xmlns:a16="http://schemas.microsoft.com/office/drawing/2014/main" id="{466CEC90-14FB-41F4-9484-7899DFB6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33600"/>
            <a:ext cx="3524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26B5E"/>
            </a:solidFill>
            <a:prstDash val="solid"/>
          </a:ln>
        </p:spPr>
      </p:sp>
      <p:sp>
        <p:nvSpPr>
          <p:cNvPr id="12" name="zone2-kicker">
            <a:extLst xmlns:a="http://schemas.openxmlformats.org/drawingml/2006/main">
              <a:ext uri="{FF2B5EF4-FFF2-40B4-BE49-F238E27FC236}">
                <a16:creationId xmlns:a16="http://schemas.microsoft.com/office/drawing/2014/main" id="{6787BECD-5176-4D26-98B4-F966B8EC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19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26B5E"/>
                </a:solidFill>
              </a:defRPr>
            </a:pPr>
            <a:r>
              <a:rPr sz="1125" b="1">
                <a:solidFill>
                  <a:srgbClr val="F26B5E"/>
                </a:solidFill>
              </a:rPr>
              <a:t>ZONE 2</a:t>
            </a:r>
          </a:p>
        </p:txBody>
      </p:sp>
      <p:sp>
        <p:nvSpPr>
          <p:cNvPr id="13" name="zone2-title">
            <a:extLst xmlns:a="http://schemas.openxmlformats.org/drawingml/2006/main">
              <a:ext uri="{FF2B5EF4-FFF2-40B4-BE49-F238E27FC236}">
                <a16:creationId xmlns:a16="http://schemas.microsoft.com/office/drawing/2014/main" id="{67546CF7-306D-4BB8-A2D5-96D7E796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003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F3A"/>
                </a:solidFill>
              </a:defRPr>
            </a:pPr>
            <a:r>
              <a:rPr sz="2100" b="1">
                <a:solidFill>
                  <a:srgbClr val="0B1F3A"/>
                </a:solidFill>
              </a:rPr>
              <a:t>Intelligent mapping</a:t>
            </a:r>
          </a:p>
        </p:txBody>
      </p:sp>
      <p:sp>
        <p:nvSpPr>
          <p:cNvPr id="14" name="zone2-body">
            <a:extLst xmlns:a="http://schemas.openxmlformats.org/drawingml/2006/main">
              <a:ext uri="{FF2B5EF4-FFF2-40B4-BE49-F238E27FC236}">
                <a16:creationId xmlns:a16="http://schemas.microsoft.com/office/drawing/2014/main" id="{E0FEA827-B761-4D12-8BBC-672C4052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Fetch + OCR / translate</a:t>
            </a:r>
          </a:p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Hybrid retrieval + mapping</a:t>
            </a:r>
          </a:p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Validate + write</a:t>
            </a:r>
          </a:p>
        </p:txBody>
      </p:sp>
      <p:sp>
        <p:nvSpPr>
          <p:cNvPr id="15" name="output-arrow">
            <a:extLst xmlns:a="http://schemas.openxmlformats.org/drawingml/2006/main">
              <a:ext uri="{FF2B5EF4-FFF2-40B4-BE49-F238E27FC236}">
                <a16:creationId xmlns:a16="http://schemas.microsoft.com/office/drawing/2014/main" id="{10E40DCF-7464-487E-AE4D-3D760562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9085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479FF"/>
                </a:solidFill>
              </a:defRPr>
            </a:pPr>
            <a:r>
              <a:rPr sz="2850" b="1">
                <a:solidFill>
                  <a:srgbClr val="1479FF"/>
                </a:solidFill>
              </a:rPr>
              <a:t>→</a:t>
            </a:r>
          </a:p>
        </p:txBody>
      </p:sp>
      <p:sp>
        <p:nvSpPr>
          <p:cNvPr id="16" name="output">
            <a:extLst xmlns:a="http://schemas.openxmlformats.org/drawingml/2006/main">
              <a:ext uri="{FF2B5EF4-FFF2-40B4-BE49-F238E27FC236}">
                <a16:creationId xmlns:a16="http://schemas.microsoft.com/office/drawing/2014/main" id="{A2C4418C-3CE1-4598-B558-E6C26086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048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CSV / JSON</a:t>
            </a:r>
          </a:p>
        </p:txBody>
      </p:sp>
      <p:sp>
        <p:nvSpPr>
          <p:cNvPr id="17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E6FF8AD2-C2F3-4B59-A348-58B343B1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53000"/>
            <a:ext cx="752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FF7F2"/>
          </a:solidFill>
          <a:ln xmlns:a="http://schemas.openxmlformats.org/drawingml/2006/main" w="9525">
            <a:solidFill>
              <a:srgbClr val="A7E9DD"/>
            </a:solidFill>
            <a:prstDash val="solid"/>
          </a:ln>
        </p:spPr>
      </p:sp>
      <p:sp>
        <p:nvSpPr>
          <p:cNvPr id="18" name="evidence-rail-text">
            <a:extLst xmlns:a="http://schemas.openxmlformats.org/drawingml/2006/main">
              <a:ext uri="{FF2B5EF4-FFF2-40B4-BE49-F238E27FC236}">
                <a16:creationId xmlns:a16="http://schemas.microsoft.com/office/drawing/2014/main" id="{178C9A8F-91C8-4D09-9A9F-5EF8D132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244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Exact source · exact provision · indicator · confidence · reviewer notes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8CFE64B-DE50-4BB4-BD6E-9903775D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AE10CF5F-51B7-4748-81AB-29E529E5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</a:defRPr>
            </a:pPr>
            <a:r>
              <a:rPr sz="825">
                <a:solidFill>
                  <a:srgbClr val="52606D"/>
                </a:solidFill>
              </a:rPr>
              <a:t>Galaxefi · UN Global Hackathon · 3 August 2026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E1FEC43B-9B20-4CD5-93D1-47139589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79FF"/>
                </a:solidFill>
              </a:defRPr>
            </a:pPr>
            <a:r>
              <a:rPr sz="900" b="1">
                <a:solidFill>
                  <a:srgbClr val="1479F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0201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1891D5C9-A9E9-49DA-B706-F4702119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9FF"/>
                </a:solidFill>
              </a:defRPr>
            </a:pPr>
            <a:r>
              <a:rPr sz="1050" b="1">
                <a:solidFill>
                  <a:srgbClr val="1479FF"/>
                </a:solidFill>
              </a:rPr>
              <a:t>WHY THIS ENGINE IS DIFFERENT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A14F907-058C-4B01-98FE-F03354D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Four design choices make the engine reusable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81267CE-8EA0-44FD-807B-859EF1E6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Each differentiator addresses a scoring, reliability, cost, or scalability constraint.</a:t>
            </a:r>
          </a:p>
        </p:txBody>
      </p:sp>
      <p:sp>
        <p:nvSpPr>
          <p:cNvPr id="4" name="diff-0">
            <a:extLst xmlns:a="http://schemas.openxmlformats.org/drawingml/2006/main">
              <a:ext uri="{FF2B5EF4-FFF2-40B4-BE49-F238E27FC236}">
                <a16:creationId xmlns:a16="http://schemas.microsoft.com/office/drawing/2014/main" id="{06CE3F85-EA50-4A78-BDC6-169E9AF3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diff-dot-0">
            <a:extLst xmlns:a="http://schemas.openxmlformats.org/drawingml/2006/main">
              <a:ext uri="{FF2B5EF4-FFF2-40B4-BE49-F238E27FC236}">
                <a16:creationId xmlns:a16="http://schemas.microsoft.com/office/drawing/2014/main" id="{96935FC9-6F71-4CD2-88D4-0E81D207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solidFill>
              <a:srgbClr val="F26B5E"/>
            </a:solidFill>
            <a:prstDash val="solid"/>
          </a:ln>
        </p:spPr>
      </p:sp>
      <p:sp>
        <p:nvSpPr>
          <p:cNvPr id="6" name="diff-number-0">
            <a:extLst xmlns:a="http://schemas.openxmlformats.org/drawingml/2006/main">
              <a:ext uri="{FF2B5EF4-FFF2-40B4-BE49-F238E27FC236}">
                <a16:creationId xmlns:a16="http://schemas.microsoft.com/office/drawing/2014/main" id="{0E2D32FC-2B41-4423-A710-02CC1F57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384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61E7A36B-D769-4770-84EB-9A03829D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NEW provision detection</a:t>
            </a:r>
          </a:p>
        </p:txBody>
      </p:sp>
      <p:sp>
        <p:nvSpPr>
          <p:cNvPr id="8" name="diff-body-0">
            <a:extLst xmlns:a="http://schemas.openxmlformats.org/drawingml/2006/main">
              <a:ext uri="{FF2B5EF4-FFF2-40B4-BE49-F238E27FC236}">
                <a16:creationId xmlns:a16="http://schemas.microsoft.com/office/drawing/2014/main" id="{26F4297E-4BA5-460F-A7D2-603C15D1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575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Independent discoveries are separated from Round 1 examples.</a:t>
            </a:r>
          </a:p>
        </p:txBody>
      </p:sp>
      <p:sp>
        <p:nvSpPr>
          <p:cNvPr id="9" name="diff-1">
            <a:extLst xmlns:a="http://schemas.openxmlformats.org/drawingml/2006/main">
              <a:ext uri="{FF2B5EF4-FFF2-40B4-BE49-F238E27FC236}">
                <a16:creationId xmlns:a16="http://schemas.microsoft.com/office/drawing/2014/main" id="{8F1EC87A-8971-4FEF-9F1E-ECE9ADDE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diff-dot-1">
            <a:extLst xmlns:a="http://schemas.openxmlformats.org/drawingml/2006/main">
              <a:ext uri="{FF2B5EF4-FFF2-40B4-BE49-F238E27FC236}">
                <a16:creationId xmlns:a16="http://schemas.microsoft.com/office/drawing/2014/main" id="{BFF7F182-D15D-414F-BE15-3043961B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9FF"/>
          </a:solidFill>
          <a:ln xmlns:a="http://schemas.openxmlformats.org/drawingml/2006/main" w="0">
            <a:solidFill>
              <a:srgbClr val="1479FF"/>
            </a:solidFill>
            <a:prstDash val="solid"/>
          </a:ln>
        </p:spPr>
      </p:sp>
      <p:sp>
        <p:nvSpPr>
          <p:cNvPr id="11" name="diff-number-1">
            <a:extLst xmlns:a="http://schemas.openxmlformats.org/drawingml/2006/main">
              <a:ext uri="{FF2B5EF4-FFF2-40B4-BE49-F238E27FC236}">
                <a16:creationId xmlns:a16="http://schemas.microsoft.com/office/drawing/2014/main" id="{1EFBEF83-58BF-4300-B97F-414F4C6F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384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FFD8BBDB-5330-4610-A9DD-A5777D5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Eight provider tiers</a:t>
            </a:r>
          </a:p>
        </p:txBody>
      </p:sp>
      <p:sp>
        <p:nvSpPr>
          <p:cNvPr id="13" name="diff-body-1">
            <a:extLst xmlns:a="http://schemas.openxmlformats.org/drawingml/2006/main">
              <a:ext uri="{FF2B5EF4-FFF2-40B4-BE49-F238E27FC236}">
                <a16:creationId xmlns:a16="http://schemas.microsoft.com/office/drawing/2014/main" id="{965B6AA2-517D-4A20-B429-21B307C6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Cloud and local choices; one provider pinned for each run.</a:t>
            </a:r>
          </a:p>
        </p:txBody>
      </p:sp>
      <p:sp>
        <p:nvSpPr>
          <p:cNvPr id="14" name="diff-2">
            <a:extLst xmlns:a="http://schemas.openxmlformats.org/drawingml/2006/main">
              <a:ext uri="{FF2B5EF4-FFF2-40B4-BE49-F238E27FC236}">
                <a16:creationId xmlns:a16="http://schemas.microsoft.com/office/drawing/2014/main" id="{36D5CF79-AAD0-4090-9181-6E927BC9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diff-dot-2">
            <a:extLst xmlns:a="http://schemas.openxmlformats.org/drawingml/2006/main">
              <a:ext uri="{FF2B5EF4-FFF2-40B4-BE49-F238E27FC236}">
                <a16:creationId xmlns:a16="http://schemas.microsoft.com/office/drawing/2014/main" id="{2D3EEAC0-9798-4AD4-940D-A48CD06C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529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diff-number-2">
            <a:extLst xmlns:a="http://schemas.openxmlformats.org/drawingml/2006/main">
              <a:ext uri="{FF2B5EF4-FFF2-40B4-BE49-F238E27FC236}">
                <a16:creationId xmlns:a16="http://schemas.microsoft.com/office/drawing/2014/main" id="{C55FD785-96A0-4A3E-89F0-E123BF65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EBD71038-D431-4E95-BE76-2462F31B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57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Measured cost reporting</a:t>
            </a:r>
          </a:p>
        </p:txBody>
      </p:sp>
      <p:sp>
        <p:nvSpPr>
          <p:cNvPr id="18" name="diff-body-2">
            <a:extLst xmlns:a="http://schemas.openxmlformats.org/drawingml/2006/main">
              <a:ext uri="{FF2B5EF4-FFF2-40B4-BE49-F238E27FC236}">
                <a16:creationId xmlns:a16="http://schemas.microsoft.com/office/drawing/2014/main" id="{868F2D1D-E7CF-4B05-8F71-84184E2A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339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Token, OCR, latency, and total run cost are logged.</a:t>
            </a:r>
          </a:p>
        </p:txBody>
      </p:sp>
      <p:sp>
        <p:nvSpPr>
          <p:cNvPr id="19" name="diff-3">
            <a:extLst xmlns:a="http://schemas.openxmlformats.org/drawingml/2006/main">
              <a:ext uri="{FF2B5EF4-FFF2-40B4-BE49-F238E27FC236}">
                <a16:creationId xmlns:a16="http://schemas.microsoft.com/office/drawing/2014/main" id="{4F24456A-ADB1-44ED-80BC-0AAAF5F8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diff-dot-3">
            <a:extLst xmlns:a="http://schemas.openxmlformats.org/drawingml/2006/main">
              <a:ext uri="{FF2B5EF4-FFF2-40B4-BE49-F238E27FC236}">
                <a16:creationId xmlns:a16="http://schemas.microsoft.com/office/drawing/2014/main" id="{0DEDDD81-43DA-42F6-AA9E-53C17F40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9"/>
          </a:solidFill>
          <a:ln xmlns:a="http://schemas.openxmlformats.org/drawingml/2006/main" w="0">
            <a:solidFill>
              <a:srgbClr val="22C7D9"/>
            </a:solidFill>
            <a:prstDash val="solid"/>
          </a:ln>
        </p:spPr>
      </p:sp>
      <p:sp>
        <p:nvSpPr>
          <p:cNvPr id="21" name="diff-number-3">
            <a:extLst xmlns:a="http://schemas.openxmlformats.org/drawingml/2006/main">
              <a:ext uri="{FF2B5EF4-FFF2-40B4-BE49-F238E27FC236}">
                <a16:creationId xmlns:a16="http://schemas.microsoft.com/office/drawing/2014/main" id="{AA89C48E-E4F3-4BE2-803A-01349D31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148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C92E55EA-A835-4AF6-AD5F-534F7766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57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YAML economy configs</a:t>
            </a:r>
          </a:p>
        </p:txBody>
      </p:sp>
      <p:sp>
        <p:nvSpPr>
          <p:cNvPr id="23" name="diff-body-3">
            <a:extLst xmlns:a="http://schemas.openxmlformats.org/drawingml/2006/main">
              <a:ext uri="{FF2B5EF4-FFF2-40B4-BE49-F238E27FC236}">
                <a16:creationId xmlns:a16="http://schemas.microsoft.com/office/drawing/2014/main" id="{C8996B0D-17FE-4446-9CDC-B02AE3E8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339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Singapore, Australia, and Malaysia share one pipeline.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041BA4C-76A5-4B4E-88B8-72FE6A46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4FF976E3-6E4B-4786-81B9-AF7F4D90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</a:defRPr>
            </a:pPr>
            <a:r>
              <a:rPr sz="825">
                <a:solidFill>
                  <a:srgbClr val="52606D"/>
                </a:solidFill>
              </a:rPr>
              <a:t>Galaxefi · UN Global Hackathon · 3 August 2026</a:t>
            </a:r>
          </a:p>
        </p:txBody>
      </p:sp>
      <p:sp>
        <p:nvSpPr>
          <p:cNvPr id="26" name="page">
            <a:extLst xmlns:a="http://schemas.openxmlformats.org/drawingml/2006/main">
              <a:ext uri="{FF2B5EF4-FFF2-40B4-BE49-F238E27FC236}">
                <a16:creationId xmlns:a16="http://schemas.microsoft.com/office/drawing/2014/main" id="{3591FF0D-AB77-4C82-B747-7ED9550B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79FF"/>
                </a:solidFill>
              </a:defRPr>
            </a:pPr>
            <a:r>
              <a:rPr sz="900" b="1">
                <a:solidFill>
                  <a:srgbClr val="1479F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41782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7A31B6E9-12C4-4952-BAE1-52375444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9FF"/>
                </a:solidFill>
              </a:defRPr>
            </a:pPr>
            <a:r>
              <a:rPr sz="1050" b="1">
                <a:solidFill>
                  <a:srgbClr val="1479FF"/>
                </a:solidFill>
              </a:rPr>
              <a:t>SINGAPORE P7 EVIDENCE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9923CB-B5B4-42B4-8CC8-10BF7B17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One official Act, two traceable RDTII results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A6E0394-F7B5-4A5F-96EF-F00F7F0C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Selected PDPA provisions demonstrate exact-source NEW and KNOWN results from the completed run.</a:t>
            </a:r>
          </a:p>
        </p:txBody>
      </p:sp>
      <p:sp>
        <p:nvSpPr>
          <p:cNvPr id="4" name="source-panel">
            <a:extLst xmlns:a="http://schemas.openxmlformats.org/drawingml/2006/main">
              <a:ext uri="{FF2B5EF4-FFF2-40B4-BE49-F238E27FC236}">
                <a16:creationId xmlns:a16="http://schemas.microsoft.com/office/drawing/2014/main" id="{D2CA2B41-8002-4DDC-9B84-1E797000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5" name="source-kicker">
            <a:extLst xmlns:a="http://schemas.openxmlformats.org/drawingml/2006/main">
              <a:ext uri="{FF2B5EF4-FFF2-40B4-BE49-F238E27FC236}">
                <a16:creationId xmlns:a16="http://schemas.microsoft.com/office/drawing/2014/main" id="{966E34CE-4C33-4947-95DC-FC3402C7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C7D9"/>
                </a:solidFill>
              </a:defRPr>
            </a:pPr>
            <a:r>
              <a:rPr sz="975" b="1">
                <a:solidFill>
                  <a:srgbClr val="22C7D9"/>
                </a:solidFill>
              </a:rPr>
              <a:t>OFFICIAL SOURCE</a:t>
            </a:r>
          </a:p>
        </p:txBody>
      </p:sp>
      <p:sp>
        <p:nvSpPr>
          <p:cNvPr id="6" name="source-names">
            <a:extLst xmlns:a="http://schemas.openxmlformats.org/drawingml/2006/main">
              <a:ext uri="{FF2B5EF4-FFF2-40B4-BE49-F238E27FC236}">
                <a16:creationId xmlns:a16="http://schemas.microsoft.com/office/drawing/2014/main" id="{7630F767-8DD7-4A1E-80EA-F2BFC9BA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3714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Personal Data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Protection Act 2012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Singapore Statutes Online</a:t>
            </a:r>
          </a:p>
        </p:txBody>
      </p:sp>
      <p:sp>
        <p:nvSpPr>
          <p:cNvPr id="7" name="source-foot">
            <a:extLst xmlns:a="http://schemas.openxmlformats.org/drawingml/2006/main">
              <a:ext uri="{FF2B5EF4-FFF2-40B4-BE49-F238E27FC236}">
                <a16:creationId xmlns:a16="http://schemas.microsoft.com/office/drawing/2014/main" id="{B767296B-DDBC-41FB-9E97-0A89BD16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E6FF"/>
                </a:solidFill>
              </a:defRPr>
            </a:pPr>
            <a:r>
              <a:rPr sz="1200">
                <a:solidFill>
                  <a:srgbClr val="C8E6FF"/>
                </a:solidFill>
              </a:rPr>
              <a:t>sso.agc.gov.sg · Exact source text retained</a:t>
            </a:r>
          </a:p>
        </p:txBody>
      </p:sp>
      <p:sp>
        <p:nvSpPr>
          <p:cNvPr id="8" name="case-arrow">
            <a:extLst xmlns:a="http://schemas.openxmlformats.org/drawingml/2006/main">
              <a:ext uri="{FF2B5EF4-FFF2-40B4-BE49-F238E27FC236}">
                <a16:creationId xmlns:a16="http://schemas.microsoft.com/office/drawing/2014/main" id="{AC9AE301-78A0-4B90-80C5-AA9C5F41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479FF"/>
                </a:solidFill>
              </a:defRPr>
            </a:pPr>
            <a:r>
              <a:rPr sz="3300" b="1">
                <a:solidFill>
                  <a:srgbClr val="1479FF"/>
                </a:solidFill>
              </a:rPr>
              <a:t>→</a:t>
            </a:r>
          </a:p>
        </p:txBody>
      </p:sp>
      <p:sp>
        <p:nvSpPr>
          <p:cNvPr id="9" name="case-row-0">
            <a:extLst xmlns:a="http://schemas.openxmlformats.org/drawingml/2006/main">
              <a:ext uri="{FF2B5EF4-FFF2-40B4-BE49-F238E27FC236}">
                <a16:creationId xmlns:a16="http://schemas.microsoft.com/office/drawing/2014/main" id="{D458BE2E-3961-4215-9CC5-2834B239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tag-0">
            <a:extLst xmlns:a="http://schemas.openxmlformats.org/drawingml/2006/main">
              <a:ext uri="{FF2B5EF4-FFF2-40B4-BE49-F238E27FC236}">
                <a16:creationId xmlns:a16="http://schemas.microsoft.com/office/drawing/2014/main" id="{D23B599D-E076-44CD-9F00-FB018BA9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3365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6B5E"/>
          </a:solidFill>
          <a:ln xmlns:a="http://schemas.openxmlformats.org/drawingml/2006/main" w="0">
            <a:solidFill>
              <a:srgbClr val="F26B5E"/>
            </a:solidFill>
            <a:prstDash val="solid"/>
          </a:ln>
        </p:spPr>
      </p:sp>
      <p:sp>
        <p:nvSpPr>
          <p:cNvPr id="11" name="tag-text-0">
            <a:extLst xmlns:a="http://schemas.openxmlformats.org/drawingml/2006/main">
              <a:ext uri="{FF2B5EF4-FFF2-40B4-BE49-F238E27FC236}">
                <a16:creationId xmlns:a16="http://schemas.microsoft.com/office/drawing/2014/main" id="{250411C6-9327-4090-AE39-6B579E8F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003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12" name="row-head-0">
            <a:extLst xmlns:a="http://schemas.openxmlformats.org/drawingml/2006/main">
              <a:ext uri="{FF2B5EF4-FFF2-40B4-BE49-F238E27FC236}">
                <a16:creationId xmlns:a16="http://schemas.microsoft.com/office/drawing/2014/main" id="{2ADE2A58-F9C3-4CE1-85D9-1BB0AC91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527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P7-I3  ·  Section 50(4)</a:t>
            </a:r>
          </a:p>
        </p:txBody>
      </p:sp>
      <p:sp>
        <p:nvSpPr>
          <p:cNvPr id="13" name="row-body-0">
            <a:extLst xmlns:a="http://schemas.openxmlformats.org/drawingml/2006/main">
              <a:ext uri="{FF2B5EF4-FFF2-40B4-BE49-F238E27FC236}">
                <a16:creationId xmlns:a16="http://schemas.microsoft.com/office/drawing/2014/main" id="{E9CECCB5-9429-4238-9DEE-AC2D5120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956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One-year investigation-record retention</a:t>
            </a:r>
          </a:p>
          <a:p xmlns:a="http://schemas.openxmlformats.org/drawingml/2006/main">
            <a:pPr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Confidence 0.92  ·  Exact snippet retained</a:t>
            </a:r>
          </a:p>
        </p:txBody>
      </p:sp>
      <p:sp>
        <p:nvSpPr>
          <p:cNvPr id="14" name="case-row-1">
            <a:extLst xmlns:a="http://schemas.openxmlformats.org/drawingml/2006/main">
              <a:ext uri="{FF2B5EF4-FFF2-40B4-BE49-F238E27FC236}">
                <a16:creationId xmlns:a16="http://schemas.microsoft.com/office/drawing/2014/main" id="{9D2A138A-5BEB-43AC-B9AA-7297E224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tag-1">
            <a:extLst xmlns:a="http://schemas.openxmlformats.org/drawingml/2006/main">
              <a:ext uri="{FF2B5EF4-FFF2-40B4-BE49-F238E27FC236}">
                <a16:creationId xmlns:a16="http://schemas.microsoft.com/office/drawing/2014/main" id="{12315C79-4D25-4E15-B135-3B393E0D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C7D9"/>
          </a:solidFill>
          <a:ln xmlns:a="http://schemas.openxmlformats.org/drawingml/2006/main" w="0">
            <a:solidFill>
              <a:srgbClr val="22C7D9"/>
            </a:solidFill>
            <a:prstDash val="solid"/>
          </a:ln>
        </p:spPr>
      </p:sp>
      <p:sp>
        <p:nvSpPr>
          <p:cNvPr id="16" name="tag-text-1">
            <a:extLst xmlns:a="http://schemas.openxmlformats.org/drawingml/2006/main">
              <a:ext uri="{FF2B5EF4-FFF2-40B4-BE49-F238E27FC236}">
                <a16:creationId xmlns:a16="http://schemas.microsoft.com/office/drawing/2014/main" id="{12AA9AE1-BFE8-48E3-B627-DB0C0E4C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671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KNOWN</a:t>
            </a:r>
          </a:p>
        </p:txBody>
      </p:sp>
      <p:sp>
        <p:nvSpPr>
          <p:cNvPr id="17" name="row-head-1">
            <a:extLst xmlns:a="http://schemas.openxmlformats.org/drawingml/2006/main">
              <a:ext uri="{FF2B5EF4-FFF2-40B4-BE49-F238E27FC236}">
                <a16:creationId xmlns:a16="http://schemas.microsoft.com/office/drawing/2014/main" id="{6348EF76-41B4-4173-AF16-1EED60C2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19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P7-I4  ·  Section 11(3)</a:t>
            </a:r>
          </a:p>
        </p:txBody>
      </p:sp>
      <p:sp>
        <p:nvSpPr>
          <p:cNvPr id="18" name="row-body-1">
            <a:extLst xmlns:a="http://schemas.openxmlformats.org/drawingml/2006/main">
              <a:ext uri="{FF2B5EF4-FFF2-40B4-BE49-F238E27FC236}">
                <a16:creationId xmlns:a16="http://schemas.microsoft.com/office/drawing/2014/main" id="{62090BFE-555A-451D-ADC7-7BCA9F19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624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Designated data-protection function</a:t>
            </a:r>
          </a:p>
          <a:p xmlns:a="http://schemas.openxmlformats.org/drawingml/2006/main">
            <a:pPr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Confidence 0.98  ·  Exact snippet retained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5839448-5195-4DC8-961C-9D2EFEA5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7F6FF91C-C7E6-4566-8D64-3A2DDB37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</a:defRPr>
            </a:pPr>
            <a:r>
              <a:rPr sz="825">
                <a:solidFill>
                  <a:srgbClr val="52606D"/>
                </a:solidFill>
              </a:rPr>
              <a:t>Galaxefi · UN Global Hackathon · 3 August 2026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08CA30C8-9306-4CEC-8404-9D21E3F8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79FF"/>
                </a:solidFill>
              </a:defRPr>
            </a:pPr>
            <a:r>
              <a:rPr sz="900" b="1">
                <a:solidFill>
                  <a:srgbClr val="1479F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58903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263DA984-84C6-41D4-8347-3794E7FC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9FF"/>
                </a:solidFill>
              </a:defRPr>
            </a:pPr>
            <a:r>
              <a:rPr sz="1050" b="1">
                <a:solidFill>
                  <a:srgbClr val="1479FF"/>
                </a:solidFill>
              </a:rPr>
              <a:t>MEASURED PROOF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B0332B0-1587-4C18-9F1C-76FDDC0F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Known checks recovered - and more evidence found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4FA7541-0123-4B82-A0AB-E73729CD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Repository evaluator and cost-log results from the six completed runs.</a:t>
            </a:r>
          </a:p>
        </p:txBody>
      </p:sp>
      <p:sp>
        <p:nvSpPr>
          <p:cNvPr id="4" name="metric-0">
            <a:extLst xmlns:a="http://schemas.openxmlformats.org/drawingml/2006/main">
              <a:ext uri="{FF2B5EF4-FFF2-40B4-BE49-F238E27FC236}">
                <a16:creationId xmlns:a16="http://schemas.microsoft.com/office/drawing/2014/main" id="{8FEB45C7-1785-4E3D-9333-871548EB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305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BA2B33B7-B887-428F-B2D0-794D6BF9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79FF"/>
                </a:solidFill>
              </a:defRPr>
            </a:pPr>
            <a:r>
              <a:rPr sz="3000" b="1">
                <a:solidFill>
                  <a:srgbClr val="1479FF"/>
                </a:solidFill>
              </a:rPr>
              <a:t>27/27</a:t>
            </a:r>
          </a:p>
        </p:txBody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90264F1A-B9EB-4C13-A600-49E484AE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known indicator checks</a:t>
            </a:r>
          </a:p>
        </p:txBody>
      </p:sp>
      <p:sp>
        <p:nvSpPr>
          <p:cNvPr id="7" name="metric-1">
            <a:extLst xmlns:a="http://schemas.openxmlformats.org/drawingml/2006/main">
              <a:ext uri="{FF2B5EF4-FFF2-40B4-BE49-F238E27FC236}">
                <a16:creationId xmlns:a16="http://schemas.microsoft.com/office/drawing/2014/main" id="{BB22B764-8BD7-4338-BFC6-F8E44B05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2305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FCCF1571-B806-481B-851B-F5B66E7D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05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C7D9"/>
                </a:solidFill>
              </a:defRPr>
            </a:pPr>
            <a:r>
              <a:rPr sz="3000" b="1">
                <a:solidFill>
                  <a:srgbClr val="22C7D9"/>
                </a:solidFill>
              </a:rPr>
              <a:t>73</a:t>
            </a:r>
          </a:p>
        </p:txBody>
      </p:sp>
      <p:sp>
        <p:nvSpPr>
          <p:cNvPr id="9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BF78FB89-F8A6-4446-A06B-0D740A9E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NEW candidates</a:t>
            </a:r>
          </a:p>
        </p:txBody>
      </p:sp>
      <p:sp>
        <p:nvSpPr>
          <p:cNvPr id="10" name="metric-2">
            <a:extLst xmlns:a="http://schemas.openxmlformats.org/drawingml/2006/main">
              <a:ext uri="{FF2B5EF4-FFF2-40B4-BE49-F238E27FC236}">
                <a16:creationId xmlns:a16="http://schemas.microsoft.com/office/drawing/2014/main" id="{CB67E9EE-6817-4ECE-A2BB-A0E23D9B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95500"/>
            <a:ext cx="2305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411AD9F5-6D2B-41F0-90DE-AB868055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6B5E"/>
                </a:solidFill>
              </a:defRPr>
            </a:pPr>
            <a:r>
              <a:rPr sz="3000" b="1">
                <a:solidFill>
                  <a:srgbClr val="F26B5E"/>
                </a:solidFill>
              </a:rPr>
              <a:t>$0.43</a:t>
            </a:r>
          </a:p>
        </p:txBody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59B4053A-5BC2-46FD-A24F-61B3B18F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Singapore P7 model cost</a:t>
            </a:r>
          </a:p>
        </p:txBody>
      </p:sp>
      <p:sp>
        <p:nvSpPr>
          <p:cNvPr id="13" name="metric-3">
            <a:extLst xmlns:a="http://schemas.openxmlformats.org/drawingml/2006/main">
              <a:ext uri="{FF2B5EF4-FFF2-40B4-BE49-F238E27FC236}">
                <a16:creationId xmlns:a16="http://schemas.microsoft.com/office/drawing/2014/main" id="{40510F11-93DB-44D5-83A0-A7EB75CD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2305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2705743B-A3D8-47C5-93F1-28DE5310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05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B942"/>
                </a:solidFill>
              </a:defRPr>
            </a:pPr>
            <a:r>
              <a:rPr sz="3000" b="1">
                <a:solidFill>
                  <a:srgbClr val="F4B942"/>
                </a:solidFill>
              </a:rPr>
              <a:t>3 × 2</a:t>
            </a:r>
          </a:p>
        </p:txBody>
      </p:sp>
      <p:sp>
        <p:nvSpPr>
          <p:cNvPr id="15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5F1B71F4-9921-40F2-9D40-410A1C9C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economies × pillars</a:t>
            </a:r>
          </a:p>
        </p:txBody>
      </p:sp>
      <p:sp>
        <p:nvSpPr>
          <p:cNvPr id="16" name="proof-note">
            <a:extLst xmlns:a="http://schemas.openxmlformats.org/drawingml/2006/main">
              <a:ext uri="{FF2B5EF4-FFF2-40B4-BE49-F238E27FC236}">
                <a16:creationId xmlns:a16="http://schemas.microsoft.com/office/drawing/2014/main" id="{CA932143-1AAE-4C8A-B302-74BFCFCA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0096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DFF7F2"/>
          </a:solidFill>
          <a:ln xmlns:a="http://schemas.openxmlformats.org/drawingml/2006/main" w="9525">
            <a:solidFill>
              <a:srgbClr val="A7E9DD"/>
            </a:solidFill>
            <a:prstDash val="solid"/>
          </a:ln>
        </p:spPr>
      </p:sp>
      <p:sp>
        <p:nvSpPr>
          <p:cNvPr id="17" name="proof-note-title">
            <a:extLst xmlns:a="http://schemas.openxmlformats.org/drawingml/2006/main">
              <a:ext uri="{FF2B5EF4-FFF2-40B4-BE49-F238E27FC236}">
                <a16:creationId xmlns:a16="http://schemas.microsoft.com/office/drawing/2014/main" id="{89BA92AA-6E86-4854-9B7F-0D55CE0F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24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What the numbers mean</a:t>
            </a:r>
          </a:p>
        </p:txBody>
      </p:sp>
      <p:sp>
        <p:nvSpPr>
          <p:cNvPr id="18" name="proof-note-body">
            <a:extLst xmlns:a="http://schemas.openxmlformats.org/drawingml/2006/main">
              <a:ext uri="{FF2B5EF4-FFF2-40B4-BE49-F238E27FC236}">
                <a16:creationId xmlns:a16="http://schemas.microsoft.com/office/drawing/2014/main" id="{5E1B87A8-8338-463F-BFFF-0B08E2E6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A43"/>
                </a:solidFill>
              </a:defRPr>
            </a:pPr>
            <a:r>
              <a:rPr sz="1350">
                <a:solidFill>
                  <a:srgbClr val="102A43"/>
                </a:solidFill>
              </a:rPr>
              <a:t>27/27 measures known-indicator coverage - not universal legal accuracy. NEW results are candidates for policy review, with source text, confidence, and notes kept visible.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C3ABEDD-A26E-4D24-A732-63ADCABB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9387B599-BE62-48F8-8036-7690137E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</a:defRPr>
            </a:pPr>
            <a:r>
              <a:rPr sz="825">
                <a:solidFill>
                  <a:srgbClr val="52606D"/>
                </a:solidFill>
              </a:rPr>
              <a:t>Galaxefi · UN Global Hackathon · 3 August 2026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8655ED76-A16F-4BC4-BA6B-C3DD63C0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79FF"/>
                </a:solidFill>
              </a:defRPr>
            </a:pPr>
            <a:r>
              <a:rPr sz="900" b="1">
                <a:solidFill>
                  <a:srgbClr val="1479F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08941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0167642B-8D03-411E-A926-AE6485F5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2C7D9"/>
                </a:solidFill>
              </a:defRPr>
            </a:pPr>
            <a:r>
              <a:rPr sz="1125" b="1">
                <a:solidFill>
                  <a:srgbClr val="22C7D9"/>
                </a:solidFill>
              </a:rPr>
              <a:t>THE TAKEAWAY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9C770A59-CD29-4C8E-A95F-C088507F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857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We automate evidence preparation,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not legal judgment.</a:t>
            </a:r>
          </a:p>
        </p:txBody>
      </p:sp>
      <p:sp>
        <p:nvSpPr>
          <p:cNvPr id="3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CD573D99-4287-4EDC-80D5-0802FBBB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9F3FF"/>
                </a:solidFill>
              </a:defRPr>
            </a:pPr>
            <a:r>
              <a:rPr sz="1575">
                <a:solidFill>
                  <a:srgbClr val="D9F3FF"/>
                </a:solidFill>
              </a:rPr>
              <a:t>Official source  →  exact provision  →  RDTII indicator  →  reviewer-ready output</a:t>
            </a:r>
          </a:p>
        </p:txBody>
      </p:sp>
      <p:sp>
        <p:nvSpPr>
          <p:cNvPr id="4" name="close-0">
            <a:extLst xmlns:a="http://schemas.openxmlformats.org/drawingml/2006/main">
              <a:ext uri="{FF2B5EF4-FFF2-40B4-BE49-F238E27FC236}">
                <a16:creationId xmlns:a16="http://schemas.microsoft.com/office/drawing/2014/main" id="{44065A4E-E0F9-425D-864E-FCB352D8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8956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479FF"/>
          </a:solidFill>
          <a:ln xmlns:a="http://schemas.openxmlformats.org/drawingml/2006/main" w="0">
            <a:solidFill>
              <a:srgbClr val="1479FF"/>
            </a:solidFill>
            <a:prstDash val="solid"/>
          </a:ln>
        </p:spPr>
      </p:sp>
      <p:sp>
        <p:nvSpPr>
          <p:cNvPr id="5" name="close-head-0">
            <a:extLst xmlns:a="http://schemas.openxmlformats.org/drawingml/2006/main">
              <a:ext uri="{FF2B5EF4-FFF2-40B4-BE49-F238E27FC236}">
                <a16:creationId xmlns:a16="http://schemas.microsoft.com/office/drawing/2014/main" id="{125D6F8D-FA77-4BFE-8D45-4CB85D64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FASTER</a:t>
            </a:r>
          </a:p>
        </p:txBody>
      </p:sp>
      <p:sp>
        <p:nvSpPr>
          <p:cNvPr id="6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61359121-DC2B-4ECE-BE51-DA9FE598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Less manual discovery</a:t>
            </a:r>
          </a:p>
        </p:txBody>
      </p:sp>
      <p:sp>
        <p:nvSpPr>
          <p:cNvPr id="7" name="close-1">
            <a:extLst xmlns:a="http://schemas.openxmlformats.org/drawingml/2006/main">
              <a:ext uri="{FF2B5EF4-FFF2-40B4-BE49-F238E27FC236}">
                <a16:creationId xmlns:a16="http://schemas.microsoft.com/office/drawing/2014/main" id="{90930DF1-8099-478E-A158-EA207ADA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43350"/>
            <a:ext cx="28956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2C7D9"/>
          </a:solidFill>
          <a:ln xmlns:a="http://schemas.openxmlformats.org/drawingml/2006/main" w="0">
            <a:solidFill>
              <a:srgbClr val="22C7D9"/>
            </a:solidFill>
            <a:prstDash val="solid"/>
          </a:ln>
        </p:spPr>
      </p:sp>
      <p:sp>
        <p:nvSpPr>
          <p:cNvPr id="8" name="close-head-1">
            <a:extLst xmlns:a="http://schemas.openxmlformats.org/drawingml/2006/main">
              <a:ext uri="{FF2B5EF4-FFF2-40B4-BE49-F238E27FC236}">
                <a16:creationId xmlns:a16="http://schemas.microsoft.com/office/drawing/2014/main" id="{CD2DC702-D80E-40C0-A30F-383D6C5A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719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AUDITABLE</a:t>
            </a:r>
          </a:p>
        </p:txBody>
      </p:sp>
      <p:sp>
        <p:nvSpPr>
          <p:cNvPr id="9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F9FD97D7-65B6-4193-BFCF-76050845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Evidence stays visible</a:t>
            </a:r>
          </a:p>
        </p:txBody>
      </p:sp>
      <p:sp>
        <p:nvSpPr>
          <p:cNvPr id="10" name="close-2">
            <a:extLst xmlns:a="http://schemas.openxmlformats.org/drawingml/2006/main">
              <a:ext uri="{FF2B5EF4-FFF2-40B4-BE49-F238E27FC236}">
                <a16:creationId xmlns:a16="http://schemas.microsoft.com/office/drawing/2014/main" id="{7C8AF861-D0E3-445C-8DA5-99B888E5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43350"/>
            <a:ext cx="28956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479FF"/>
          </a:solidFill>
          <a:ln xmlns:a="http://schemas.openxmlformats.org/drawingml/2006/main" w="0">
            <a:solidFill>
              <a:srgbClr val="1479FF"/>
            </a:solidFill>
            <a:prstDash val="solid"/>
          </a:ln>
        </p:spPr>
      </p:sp>
      <p:sp>
        <p:nvSpPr>
          <p:cNvPr id="11" name="close-head-2">
            <a:extLst xmlns:a="http://schemas.openxmlformats.org/drawingml/2006/main">
              <a:ext uri="{FF2B5EF4-FFF2-40B4-BE49-F238E27FC236}">
                <a16:creationId xmlns:a16="http://schemas.microsoft.com/office/drawing/2014/main" id="{0AE9417F-F2AE-46F3-9C2C-2B6BD58A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719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SCALABLE</a:t>
            </a:r>
          </a:p>
        </p:txBody>
      </p:sp>
      <p:sp>
        <p:nvSpPr>
          <p:cNvPr id="12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AB70F01C-1088-4945-AB6A-F29480BB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More economies via config</a:t>
            </a:r>
          </a:p>
        </p:txBody>
      </p:sp>
      <p:sp>
        <p:nvSpPr>
          <p:cNvPr id="13" name="closing-proof">
            <a:extLst xmlns:a="http://schemas.openxmlformats.org/drawingml/2006/main">
              <a:ext uri="{FF2B5EF4-FFF2-40B4-BE49-F238E27FC236}">
                <a16:creationId xmlns:a16="http://schemas.microsoft.com/office/drawing/2014/main" id="{00DE42BB-E110-4869-A68B-7BC9401C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7D9"/>
                </a:solidFill>
              </a:defRPr>
            </a:pPr>
            <a:r>
              <a:rPr sz="1650" b="1">
                <a:solidFill>
                  <a:srgbClr val="22C7D9"/>
                </a:solidFill>
              </a:rPr>
              <a:t>27/27 known checks · $0.43 recorded run cost</a:t>
            </a:r>
          </a:p>
        </p:txBody>
      </p:sp>
      <p:sp>
        <p:nvSpPr>
          <p:cNvPr id="14" name="questions">
            <a:extLst xmlns:a="http://schemas.openxmlformats.org/drawingml/2006/main">
              <a:ext uri="{FF2B5EF4-FFF2-40B4-BE49-F238E27FC236}">
                <a16:creationId xmlns:a16="http://schemas.microsoft.com/office/drawing/2014/main" id="{2AC4F8A9-82FD-43BE-BE18-7783580E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292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22C7D9"/>
                </a:solidFill>
              </a:defRPr>
            </a:pPr>
            <a:r>
              <a:rPr sz="2250" b="1">
                <a:solidFill>
                  <a:srgbClr val="22C7D9"/>
                </a:solidFill>
              </a:rPr>
              <a:t>Questions</a:t>
            </a:r>
          </a:p>
        </p:txBody>
      </p:sp>
      <p:sp>
        <p:nvSpPr>
          <p:cNvPr id="15" name="closing-date">
            <a:extLst xmlns:a="http://schemas.openxmlformats.org/drawingml/2006/main">
              <a:ext uri="{FF2B5EF4-FFF2-40B4-BE49-F238E27FC236}">
                <a16:creationId xmlns:a16="http://schemas.microsoft.com/office/drawing/2014/main" id="{D1822879-FC2A-416C-9255-3FB68362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7F2"/>
                </a:solidFill>
              </a:defRPr>
            </a:pPr>
            <a:r>
              <a:rPr sz="1050">
                <a:solidFill>
                  <a:srgbClr val="B8D7F2"/>
                </a:solidFill>
              </a:rPr>
              <a:t>Galaxefi · 3 August 2026</a:t>
            </a:r>
          </a:p>
        </p:txBody>
      </p:sp>
    </p:spTree>
    <p:extLst>
      <p:ext uri="{BB962C8B-B14F-4D97-AF65-F5344CB8AC3E}">
        <p14:creationId xmlns:p14="http://schemas.microsoft.com/office/powerpoint/2010/main" val="1385292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3c2d83c5d476d"/>
          <a:stretch xmlns:a="http://schemas.openxmlformats.org/drawingml/2006/main"/>
        </p:blipFill>
        <p:spPr>
          <a:xfrm xmlns:a="http://schemas.openxmlformats.org/drawingml/2006/main">
            <a:off x="1661772" y="1790700"/>
            <a:ext cx="8868455" cy="4514850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15FD698-FAAF-4DEB-ACE2-79AF70D1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9FF"/>
                </a:solidFill>
              </a:defRPr>
            </a:pPr>
            <a:r>
              <a:rPr sz="1050" b="1">
                <a:solidFill>
                  <a:srgbClr val="1479FF"/>
                </a:solidFill>
              </a:rPr>
              <a:t>BACKUP · DETAILED ARCHITECTURE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8001BE-BD9F-4193-8CF0-477556CC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Discovery routes official sources into Zone 2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F52BF513-EFE9-4E91-BAEF-0D391FE9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Economy configuration, Round 1 seeds, and local-PDF routing produce the document list.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3CF3F8C-A5EC-4430-AE20-E2CBFBFE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630CF87-9C0A-451F-A60E-4601775A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</a:defRPr>
            </a:pPr>
            <a:r>
              <a:rPr sz="825">
                <a:solidFill>
                  <a:srgbClr val="52606D"/>
                </a:solidFill>
              </a:rPr>
              <a:t>Galaxefi · UN Global Hackathon · 3 August 2026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1DC0673E-5EFE-46F0-96A9-7EA14D44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79FF"/>
                </a:solidFill>
              </a:defRPr>
            </a:pPr>
            <a:r>
              <a:rPr sz="900" b="1">
                <a:solidFill>
                  <a:srgbClr val="1479F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189430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6e02dd82e439b"/>
          <a:stretch xmlns:a="http://schemas.openxmlformats.org/drawingml/2006/main"/>
        </p:blipFill>
        <p:spPr>
          <a:xfrm xmlns:a="http://schemas.openxmlformats.org/drawingml/2006/main">
            <a:off x="1978850" y="1790700"/>
            <a:ext cx="8234300" cy="424815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F988E65-8D9A-4D69-9545-913250F4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Zone 2 turns documents into validated outputs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2A0A906-5BA6-4C89-AD77-40AC0559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Retrieval, mapping, quality checks, and archival outputs remain traceable end to end.</a:t>
            </a:r>
          </a:p>
        </p:txBody>
      </p:sp>
      <p:sp>
        <p:nvSpPr>
          <p:cNvPr id="4" name="output-summary">
            <a:extLst xmlns:a="http://schemas.openxmlformats.org/drawingml/2006/main">
              <a:ext uri="{FF2B5EF4-FFF2-40B4-BE49-F238E27FC236}">
                <a16:creationId xmlns:a16="http://schemas.microsoft.com/office/drawing/2014/main" id="{79947F8A-782C-4103-8547-A02879C1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096000"/>
            <a:ext cx="689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06D"/>
                </a:solidFill>
              </a:defRPr>
            </a:pPr>
            <a:r>
              <a:rPr sz="1200" b="1">
                <a:solidFill>
                  <a:srgbClr val="52606D"/>
                </a:solidFill>
              </a:rPr>
              <a:t>CSV/JSON outputs · cost report · archives · diagnostics · run summary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BB8149F-857F-4A99-99DD-9EF9947B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C18D36D-7BCA-4610-9347-AFFB9BC9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</a:defRPr>
            </a:pPr>
            <a:r>
              <a:rPr sz="825">
                <a:solidFill>
                  <a:srgbClr val="52606D"/>
                </a:solidFill>
              </a:rPr>
              <a:t>Galaxefi · UN Global Hackathon · 3 August 2026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2FB2B3B-6C8F-4125-BE9C-BDE4DDA1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79FF"/>
                </a:solidFill>
              </a:defRPr>
            </a:pPr>
            <a:r>
              <a:rPr sz="900" b="1">
                <a:solidFill>
                  <a:srgbClr val="1479F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75027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2026-08-01T19:27:40.7640000Z</dcterms:created>
  <dcterms:modified xsi:type="dcterms:W3CDTF">2026-08-01T19:27:40.7640000Z</dcterms:modified>
</coreProperties>
</file>